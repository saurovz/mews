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3" r:id="rId4"/>
    <p:sldMasterId id="2147483867" r:id="rId5"/>
    <p:sldMasterId id="2147483923" r:id="rId6"/>
  </p:sldMasterIdLst>
  <p:notesMasterIdLst>
    <p:notesMasterId r:id="rId18"/>
  </p:notesMasterIdLst>
  <p:sldIdLst>
    <p:sldId id="966" r:id="rId7"/>
    <p:sldId id="972" r:id="rId8"/>
    <p:sldId id="2147473158" r:id="rId9"/>
    <p:sldId id="2147473160" r:id="rId10"/>
    <p:sldId id="2147473152" r:id="rId11"/>
    <p:sldId id="2147473156" r:id="rId12"/>
    <p:sldId id="2147473159" r:id="rId13"/>
    <p:sldId id="2147473154" r:id="rId14"/>
    <p:sldId id="2147473155" r:id="rId15"/>
    <p:sldId id="2147473157" r:id="rId16"/>
    <p:sldId id="2147376416" r:id="rId1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1955F9-6711-936B-2514-36B373259BDB}" name="Panwar Shubham" initials="PS" userId="S::spanwar@teksystems.com::e71c4697-b88b-40c7-9746-4806e7f8b47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chu, Jaspreet" initials="BJ" lastIdx="16" clrIdx="0">
    <p:extLst>
      <p:ext uri="{19B8F6BF-5375-455C-9EA6-DF929625EA0E}">
        <p15:presenceInfo xmlns:p15="http://schemas.microsoft.com/office/powerpoint/2012/main" userId="S::jbhachu@teksystems.com::ab338a47-f462-4340-a94e-31400419c11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F53"/>
    <a:srgbClr val="01577C"/>
    <a:srgbClr val="C7E7F5"/>
    <a:srgbClr val="243C50"/>
    <a:srgbClr val="26475D"/>
    <a:srgbClr val="1771B1"/>
    <a:srgbClr val="0094D2"/>
    <a:srgbClr val="B8D4E7"/>
    <a:srgbClr val="FFE699"/>
    <a:srgbClr val="E6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5"/>
    <p:restoredTop sz="96327"/>
  </p:normalViewPr>
  <p:slideViewPr>
    <p:cSldViewPr snapToGrid="0">
      <p:cViewPr varScale="1">
        <p:scale>
          <a:sx n="74" d="100"/>
          <a:sy n="74" d="100"/>
        </p:scale>
        <p:origin x="96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i, Nanda" userId="046b0dc8-3c35-4c48-8940-3485916c448d" providerId="ADAL" clId="{E8BDACF8-5B0A-49C4-B95C-7E02BCB49DC2}"/>
    <pc:docChg chg="modSld">
      <pc:chgData name="Masti, Nanda" userId="046b0dc8-3c35-4c48-8940-3485916c448d" providerId="ADAL" clId="{E8BDACF8-5B0A-49C4-B95C-7E02BCB49DC2}" dt="2025-02-12T02:25:05.004" v="14" actId="20577"/>
      <pc:docMkLst>
        <pc:docMk/>
      </pc:docMkLst>
      <pc:sldChg chg="modSp mod">
        <pc:chgData name="Masti, Nanda" userId="046b0dc8-3c35-4c48-8940-3485916c448d" providerId="ADAL" clId="{E8BDACF8-5B0A-49C4-B95C-7E02BCB49DC2}" dt="2025-02-12T02:25:05.004" v="14" actId="20577"/>
        <pc:sldMkLst>
          <pc:docMk/>
          <pc:sldMk cId="2145313591" sldId="2147473160"/>
        </pc:sldMkLst>
        <pc:graphicFrameChg chg="modGraphic">
          <ac:chgData name="Masti, Nanda" userId="046b0dc8-3c35-4c48-8940-3485916c448d" providerId="ADAL" clId="{E8BDACF8-5B0A-49C4-B95C-7E02BCB49DC2}" dt="2025-02-12T02:25:05.004" v="14" actId="20577"/>
          <ac:graphicFrameMkLst>
            <pc:docMk/>
            <pc:sldMk cId="2145313591" sldId="2147473160"/>
            <ac:graphicFrameMk id="3" creationId="{37D1FC09-1B95-1F80-7ADB-75A6FAB001E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0FD022-9D26-4A77-AC05-4A892FC22390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3F4BB0-C593-4EA5-BB81-43EF77C1143E}">
      <dgm:prSet phldrT="[Text]"/>
      <dgm:spPr>
        <a:solidFill>
          <a:srgbClr val="01577C"/>
        </a:soli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SOW</a:t>
          </a:r>
        </a:p>
      </dgm:t>
    </dgm:pt>
    <dgm:pt modelId="{16526567-1645-40AA-B06F-0790A9A3EEC1}" type="parTrans" cxnId="{CD940746-966F-47C0-863B-85311EEEB6BC}">
      <dgm:prSet/>
      <dgm:spPr/>
      <dgm:t>
        <a:bodyPr/>
        <a:lstStyle/>
        <a:p>
          <a:endParaRPr lang="en-US"/>
        </a:p>
      </dgm:t>
    </dgm:pt>
    <dgm:pt modelId="{9CF5791F-8AFB-4136-853A-5EC06EA3981F}" type="sibTrans" cxnId="{CD940746-966F-47C0-863B-85311EEEB6BC}">
      <dgm:prSet/>
      <dgm:spPr/>
      <dgm:t>
        <a:bodyPr/>
        <a:lstStyle/>
        <a:p>
          <a:endParaRPr lang="en-US"/>
        </a:p>
      </dgm:t>
    </dgm:pt>
    <dgm:pt modelId="{BB21058D-C782-492C-816A-5D36D0F97DF5}">
      <dgm:prSet phldrT="[Text]" custT="1"/>
      <dgm:spPr>
        <a:solidFill>
          <a:srgbClr val="013F53"/>
        </a:solidFill>
      </dgm:spPr>
      <dgm:t>
        <a:bodyPr/>
        <a:lstStyle/>
        <a:p>
          <a:pPr algn="l">
            <a:buNone/>
          </a:pPr>
          <a:endParaRPr lang="en-US" sz="1600" b="1" dirty="0"/>
        </a:p>
        <a:p>
          <a:pPr algn="l">
            <a:buNone/>
          </a:pPr>
          <a:endParaRPr lang="en-US" sz="1600" b="1" dirty="0"/>
        </a:p>
        <a:p>
          <a:pPr algn="l">
            <a:buNone/>
          </a:pPr>
          <a:endParaRPr lang="en-US" sz="1600" b="1" dirty="0"/>
        </a:p>
        <a:p>
          <a:pPr algn="l">
            <a:buNone/>
          </a:pPr>
          <a:endParaRPr lang="en-US" sz="1600" b="1" dirty="0"/>
        </a:p>
        <a:p>
          <a:pPr algn="l">
            <a:buNone/>
          </a:pPr>
          <a:r>
            <a:rPr lang="en-US" sz="1600" b="1" dirty="0">
              <a:solidFill>
                <a:srgbClr val="00B0F0"/>
              </a:solidFill>
            </a:rPr>
            <a:t>Work Description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- Full Stack Engineering Team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- Participate and deliver per SDLC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- Provide technical and solution guidance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- Perform all operations in AGILE methodology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- Provide metrics and data on an agreed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dirty="0"/>
            <a:t>   upon schedule</a:t>
          </a:r>
        </a:p>
        <a:p>
          <a:pPr algn="l">
            <a:buFont typeface="Courier New" panose="02070309020205020404" pitchFamily="49" charset="0"/>
            <a:buChar char="o"/>
          </a:pPr>
          <a:endParaRPr lang="en-US" sz="1800" b="0" dirty="0"/>
        </a:p>
        <a:p>
          <a:pPr algn="l">
            <a:buFont typeface="Courier New" panose="02070309020205020404" pitchFamily="49" charset="0"/>
            <a:buChar char="o"/>
          </a:pPr>
          <a:endParaRPr lang="en-US" sz="1800" b="1" dirty="0"/>
        </a:p>
      </dgm:t>
    </dgm:pt>
    <dgm:pt modelId="{6403595D-196A-446B-9410-046FFF752639}" type="parTrans" cxnId="{72F302E9-26AD-40DD-B7D3-840EBFC11D25}">
      <dgm:prSet/>
      <dgm:spPr/>
      <dgm:t>
        <a:bodyPr/>
        <a:lstStyle/>
        <a:p>
          <a:endParaRPr lang="en-US"/>
        </a:p>
      </dgm:t>
    </dgm:pt>
    <dgm:pt modelId="{D3D005AA-0FE9-4B5E-9AAC-49DB947E618E}" type="sibTrans" cxnId="{72F302E9-26AD-40DD-B7D3-840EBFC11D25}">
      <dgm:prSet/>
      <dgm:spPr/>
      <dgm:t>
        <a:bodyPr/>
        <a:lstStyle/>
        <a:p>
          <a:endParaRPr lang="en-US"/>
        </a:p>
      </dgm:t>
    </dgm:pt>
    <dgm:pt modelId="{A5EB9D66-BC33-42E9-ABA2-6D173AD8A85A}">
      <dgm:prSet phldrT="[Text]" custT="1"/>
      <dgm:spPr>
        <a:solidFill>
          <a:srgbClr val="013F53"/>
        </a:solidFill>
      </dgm:spPr>
      <dgm:t>
        <a:bodyPr/>
        <a:lstStyle/>
        <a:p>
          <a:pPr algn="r">
            <a:buNone/>
          </a:pPr>
          <a:endParaRPr lang="en-US" sz="1400" b="1" dirty="0"/>
        </a:p>
        <a:p>
          <a:pPr algn="r">
            <a:buNone/>
          </a:pPr>
          <a:endParaRPr lang="en-US" sz="1400" b="1" dirty="0"/>
        </a:p>
        <a:p>
          <a:pPr algn="r">
            <a:buNone/>
          </a:pPr>
          <a:r>
            <a:rPr lang="en-US" sz="1600" b="1" dirty="0">
              <a:solidFill>
                <a:srgbClr val="00B0F0"/>
              </a:solidFill>
            </a:rPr>
            <a:t>Service Functions</a:t>
          </a:r>
        </a:p>
        <a:p>
          <a:pPr algn="r">
            <a:buNone/>
          </a:pPr>
          <a:r>
            <a:rPr lang="en-US" sz="1400" b="0" dirty="0"/>
            <a:t>- Tax Manager Service</a:t>
          </a:r>
        </a:p>
        <a:p>
          <a:pPr algn="r">
            <a:buNone/>
          </a:pPr>
          <a:r>
            <a:rPr lang="en-US" sz="1400" b="0" dirty="0"/>
            <a:t>- Web UI for Tax Manager</a:t>
          </a:r>
        </a:p>
        <a:p>
          <a:pPr algn="r">
            <a:buNone/>
          </a:pPr>
          <a:r>
            <a:rPr lang="en-US" sz="1400" b="0" dirty="0"/>
            <a:t>- Tax Calculation Service</a:t>
          </a:r>
        </a:p>
        <a:p>
          <a:pPr algn="r">
            <a:buNone/>
          </a:pPr>
          <a:r>
            <a:rPr lang="en-US" sz="1400" dirty="0"/>
            <a:t>- Test Utility for Tax Calculator</a:t>
          </a:r>
        </a:p>
        <a:p>
          <a:pPr algn="r">
            <a:buNone/>
          </a:pPr>
          <a:r>
            <a:rPr lang="en-US" sz="1400" dirty="0"/>
            <a:t>- JSON Tax Rules Schema</a:t>
          </a:r>
        </a:p>
      </dgm:t>
    </dgm:pt>
    <dgm:pt modelId="{6EA5B831-FA48-4372-B78D-2BA0DB8BA606}" type="parTrans" cxnId="{00925013-9417-4C3E-8AB5-0552F9C272EB}">
      <dgm:prSet/>
      <dgm:spPr/>
      <dgm:t>
        <a:bodyPr/>
        <a:lstStyle/>
        <a:p>
          <a:endParaRPr lang="en-US"/>
        </a:p>
      </dgm:t>
    </dgm:pt>
    <dgm:pt modelId="{717FF14B-6FD4-4A58-ABA0-E1B84D382D19}" type="sibTrans" cxnId="{00925013-9417-4C3E-8AB5-0552F9C272EB}">
      <dgm:prSet/>
      <dgm:spPr/>
      <dgm:t>
        <a:bodyPr/>
        <a:lstStyle/>
        <a:p>
          <a:endParaRPr lang="en-US"/>
        </a:p>
      </dgm:t>
    </dgm:pt>
    <dgm:pt modelId="{14B75C1B-26EF-4592-A3AD-6BC3814FD573}">
      <dgm:prSet phldrT="[Text]" custT="1"/>
      <dgm:spPr>
        <a:solidFill>
          <a:srgbClr val="013F53"/>
        </a:solidFill>
      </dgm:spPr>
      <dgm:t>
        <a:bodyPr/>
        <a:lstStyle/>
        <a:p>
          <a:pPr algn="l">
            <a:buNone/>
          </a:pPr>
          <a:r>
            <a:rPr lang="en-US" sz="1400" b="1" dirty="0">
              <a:solidFill>
                <a:srgbClr val="00B0F0"/>
              </a:solidFill>
            </a:rPr>
            <a:t>Project Plan and Phased Approach</a:t>
          </a:r>
        </a:p>
        <a:p>
          <a:pPr algn="l">
            <a:buNone/>
          </a:pPr>
          <a:r>
            <a:rPr lang="en-US" sz="1400" b="0" dirty="0"/>
            <a:t>- Phase 0 – Setup</a:t>
          </a:r>
        </a:p>
        <a:p>
          <a:pPr algn="l">
            <a:buNone/>
          </a:pPr>
          <a:r>
            <a:rPr lang="en-US" sz="1400" b="0" dirty="0"/>
            <a:t>- Phase 1 – Tax Manager Service and Web UI Development</a:t>
          </a:r>
        </a:p>
        <a:p>
          <a:pPr algn="l">
            <a:buNone/>
          </a:pPr>
          <a:r>
            <a:rPr lang="en-US" sz="1400" b="0" dirty="0"/>
            <a:t>- Phase 2 – Tax Calculator service and Test Utility Development</a:t>
          </a:r>
        </a:p>
        <a:p>
          <a:pPr algn="l">
            <a:buNone/>
          </a:pPr>
          <a:endParaRPr lang="en-US" sz="1400" b="0" dirty="0"/>
        </a:p>
        <a:p>
          <a:pPr algn="l">
            <a:buNone/>
          </a:pPr>
          <a:endParaRPr lang="en-US" sz="1400" dirty="0"/>
        </a:p>
        <a:p>
          <a:pPr algn="l">
            <a:buNone/>
          </a:pPr>
          <a:endParaRPr lang="en-US" sz="1400" dirty="0"/>
        </a:p>
        <a:p>
          <a:pPr algn="l">
            <a:buNone/>
          </a:pPr>
          <a:endParaRPr lang="en-US" sz="1400" dirty="0"/>
        </a:p>
        <a:p>
          <a:pPr algn="l">
            <a:buNone/>
          </a:pPr>
          <a:endParaRPr lang="en-US" sz="1400" dirty="0"/>
        </a:p>
      </dgm:t>
    </dgm:pt>
    <dgm:pt modelId="{193C86D5-D9AC-4796-863E-BF0EC76C71FF}" type="parTrans" cxnId="{67EE254A-4E69-41A0-A4EB-90B6B636F833}">
      <dgm:prSet/>
      <dgm:spPr/>
      <dgm:t>
        <a:bodyPr/>
        <a:lstStyle/>
        <a:p>
          <a:endParaRPr lang="en-US"/>
        </a:p>
      </dgm:t>
    </dgm:pt>
    <dgm:pt modelId="{8D036813-3F1B-49BB-823A-38C2D2503671}" type="sibTrans" cxnId="{67EE254A-4E69-41A0-A4EB-90B6B636F833}">
      <dgm:prSet/>
      <dgm:spPr/>
      <dgm:t>
        <a:bodyPr/>
        <a:lstStyle/>
        <a:p>
          <a:endParaRPr lang="en-US"/>
        </a:p>
      </dgm:t>
    </dgm:pt>
    <dgm:pt modelId="{F571036B-AA56-4B04-BB05-0C75C3DF342E}">
      <dgm:prSet phldrT="[Text]" custT="1"/>
      <dgm:spPr>
        <a:solidFill>
          <a:srgbClr val="013F53"/>
        </a:solidFill>
      </dgm:spPr>
      <dgm:t>
        <a:bodyPr/>
        <a:lstStyle/>
        <a:p>
          <a:pPr algn="r">
            <a:buNone/>
          </a:pPr>
          <a:r>
            <a:rPr lang="en-US" sz="1400" b="1" dirty="0">
              <a:solidFill>
                <a:srgbClr val="00B0F0"/>
              </a:solidFill>
            </a:rPr>
            <a:t>Other activities</a:t>
          </a:r>
        </a:p>
        <a:p>
          <a:pPr algn="r">
            <a:buNone/>
          </a:pPr>
          <a:r>
            <a:rPr lang="en-US" sz="1400" b="0" dirty="0"/>
            <a:t>- RACI matrix</a:t>
          </a:r>
        </a:p>
        <a:p>
          <a:pPr algn="r">
            <a:buNone/>
          </a:pPr>
          <a:r>
            <a:rPr lang="en-US" sz="1400" b="0" dirty="0"/>
            <a:t>- Engagement Management</a:t>
          </a:r>
        </a:p>
        <a:p>
          <a:pPr algn="r">
            <a:buNone/>
          </a:pPr>
          <a:r>
            <a:rPr lang="en-US" sz="1400" b="0" dirty="0"/>
            <a:t>- Organization Structure</a:t>
          </a:r>
        </a:p>
        <a:p>
          <a:pPr algn="r">
            <a:buNone/>
          </a:pPr>
          <a:r>
            <a:rPr lang="en-US" sz="1400" b="0" dirty="0"/>
            <a:t>- Training and Compliance</a:t>
          </a:r>
        </a:p>
        <a:p>
          <a:pPr algn="r">
            <a:buNone/>
          </a:pPr>
          <a:r>
            <a:rPr lang="en-US" sz="1400" b="0" dirty="0"/>
            <a:t>- Artifacts and Data </a:t>
          </a:r>
        </a:p>
        <a:p>
          <a:pPr algn="r">
            <a:buNone/>
          </a:pPr>
          <a:r>
            <a:rPr lang="en-US" sz="1400" b="0" dirty="0"/>
            <a:t>- Assumptions &amp; Dependencies, Risks, Schedule </a:t>
          </a:r>
        </a:p>
        <a:p>
          <a:pPr algn="r">
            <a:buNone/>
          </a:pPr>
          <a:endParaRPr lang="en-US" sz="1400" b="0" dirty="0"/>
        </a:p>
        <a:p>
          <a:pPr algn="r">
            <a:buNone/>
          </a:pPr>
          <a:endParaRPr lang="en-US" sz="1400" dirty="0"/>
        </a:p>
      </dgm:t>
    </dgm:pt>
    <dgm:pt modelId="{A3C926F7-E445-4102-86BC-221D883EFC26}" type="parTrans" cxnId="{FF090F3B-6CF6-4847-AB24-BCAAA3442A8E}">
      <dgm:prSet/>
      <dgm:spPr/>
      <dgm:t>
        <a:bodyPr/>
        <a:lstStyle/>
        <a:p>
          <a:endParaRPr lang="en-US"/>
        </a:p>
      </dgm:t>
    </dgm:pt>
    <dgm:pt modelId="{9CC1AA30-75AF-4FC8-A228-F5C5A13F9755}" type="sibTrans" cxnId="{FF090F3B-6CF6-4847-AB24-BCAAA3442A8E}">
      <dgm:prSet/>
      <dgm:spPr/>
      <dgm:t>
        <a:bodyPr/>
        <a:lstStyle/>
        <a:p>
          <a:endParaRPr lang="en-US"/>
        </a:p>
      </dgm:t>
    </dgm:pt>
    <dgm:pt modelId="{2EC36B7E-7399-4819-BF76-5C66FFB6D7EA}" type="pres">
      <dgm:prSet presAssocID="{760FD022-9D26-4A77-AC05-4A892FC22390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6ABFDC6-9092-4DF7-9CA0-BA83ACA79F64}" type="pres">
      <dgm:prSet presAssocID="{760FD022-9D26-4A77-AC05-4A892FC22390}" presName="matrix" presStyleCnt="0"/>
      <dgm:spPr/>
    </dgm:pt>
    <dgm:pt modelId="{F7FB07DF-5FD1-4646-818F-98E126799D09}" type="pres">
      <dgm:prSet presAssocID="{760FD022-9D26-4A77-AC05-4A892FC22390}" presName="tile1" presStyleLbl="node1" presStyleIdx="0" presStyleCnt="4"/>
      <dgm:spPr/>
    </dgm:pt>
    <dgm:pt modelId="{069F3596-A214-4CB6-B0B9-3FA50859058D}" type="pres">
      <dgm:prSet presAssocID="{760FD022-9D26-4A77-AC05-4A892FC22390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FC78CFA-F330-4B2A-A753-F22F2CA1415D}" type="pres">
      <dgm:prSet presAssocID="{760FD022-9D26-4A77-AC05-4A892FC22390}" presName="tile2" presStyleLbl="node1" presStyleIdx="1" presStyleCnt="4"/>
      <dgm:spPr/>
    </dgm:pt>
    <dgm:pt modelId="{A0094EC4-73F5-4265-B592-064E86E5A630}" type="pres">
      <dgm:prSet presAssocID="{760FD022-9D26-4A77-AC05-4A892FC22390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0EC077F-669C-4E1C-8A4F-C79100BBF39F}" type="pres">
      <dgm:prSet presAssocID="{760FD022-9D26-4A77-AC05-4A892FC22390}" presName="tile3" presStyleLbl="node1" presStyleIdx="2" presStyleCnt="4"/>
      <dgm:spPr/>
    </dgm:pt>
    <dgm:pt modelId="{1A3FF94C-26C8-42F2-9322-766962C94BE7}" type="pres">
      <dgm:prSet presAssocID="{760FD022-9D26-4A77-AC05-4A892FC22390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327A85A-C24F-4220-9C97-4DA24D53A713}" type="pres">
      <dgm:prSet presAssocID="{760FD022-9D26-4A77-AC05-4A892FC22390}" presName="tile4" presStyleLbl="node1" presStyleIdx="3" presStyleCnt="4"/>
      <dgm:spPr/>
    </dgm:pt>
    <dgm:pt modelId="{DF9F38EE-56F0-4A04-9225-6E605334968A}" type="pres">
      <dgm:prSet presAssocID="{760FD022-9D26-4A77-AC05-4A892FC22390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54FC41E3-F393-4AB8-8244-F03D09060F84}" type="pres">
      <dgm:prSet presAssocID="{760FD022-9D26-4A77-AC05-4A892FC22390}" presName="centerTile" presStyleLbl="fgShp" presStyleIdx="0" presStyleCnt="1" custScaleX="88685">
        <dgm:presLayoutVars>
          <dgm:chMax val="0"/>
          <dgm:chPref val="0"/>
        </dgm:presLayoutVars>
      </dgm:prSet>
      <dgm:spPr/>
    </dgm:pt>
  </dgm:ptLst>
  <dgm:cxnLst>
    <dgm:cxn modelId="{74B2E008-9E3D-461C-8263-6F609A0B5B2A}" type="presOf" srcId="{F571036B-AA56-4B04-BB05-0C75C3DF342E}" destId="{2327A85A-C24F-4220-9C97-4DA24D53A713}" srcOrd="0" destOrd="0" presId="urn:microsoft.com/office/officeart/2005/8/layout/matrix1"/>
    <dgm:cxn modelId="{00925013-9417-4C3E-8AB5-0552F9C272EB}" srcId="{423F4BB0-C593-4EA5-BB81-43EF77C1143E}" destId="{A5EB9D66-BC33-42E9-ABA2-6D173AD8A85A}" srcOrd="1" destOrd="0" parTransId="{6EA5B831-FA48-4372-B78D-2BA0DB8BA606}" sibTransId="{717FF14B-6FD4-4A58-ABA0-E1B84D382D19}"/>
    <dgm:cxn modelId="{21F2D236-4B10-452C-9C65-C7E9EB97631B}" type="presOf" srcId="{BB21058D-C782-492C-816A-5D36D0F97DF5}" destId="{069F3596-A214-4CB6-B0B9-3FA50859058D}" srcOrd="1" destOrd="0" presId="urn:microsoft.com/office/officeart/2005/8/layout/matrix1"/>
    <dgm:cxn modelId="{FF090F3B-6CF6-4847-AB24-BCAAA3442A8E}" srcId="{423F4BB0-C593-4EA5-BB81-43EF77C1143E}" destId="{F571036B-AA56-4B04-BB05-0C75C3DF342E}" srcOrd="3" destOrd="0" parTransId="{A3C926F7-E445-4102-86BC-221D883EFC26}" sibTransId="{9CC1AA30-75AF-4FC8-A228-F5C5A13F9755}"/>
    <dgm:cxn modelId="{CD940746-966F-47C0-863B-85311EEEB6BC}" srcId="{760FD022-9D26-4A77-AC05-4A892FC22390}" destId="{423F4BB0-C593-4EA5-BB81-43EF77C1143E}" srcOrd="0" destOrd="0" parTransId="{16526567-1645-40AA-B06F-0790A9A3EEC1}" sibTransId="{9CF5791F-8AFB-4136-853A-5EC06EA3981F}"/>
    <dgm:cxn modelId="{67EE254A-4E69-41A0-A4EB-90B6B636F833}" srcId="{423F4BB0-C593-4EA5-BB81-43EF77C1143E}" destId="{14B75C1B-26EF-4592-A3AD-6BC3814FD573}" srcOrd="2" destOrd="0" parTransId="{193C86D5-D9AC-4796-863E-BF0EC76C71FF}" sibTransId="{8D036813-3F1B-49BB-823A-38C2D2503671}"/>
    <dgm:cxn modelId="{5404819B-3EC6-4CAA-BC79-AC3469087D03}" type="presOf" srcId="{BB21058D-C782-492C-816A-5D36D0F97DF5}" destId="{F7FB07DF-5FD1-4646-818F-98E126799D09}" srcOrd="0" destOrd="0" presId="urn:microsoft.com/office/officeart/2005/8/layout/matrix1"/>
    <dgm:cxn modelId="{857EF4A0-B98D-4C0B-A5DC-4082A6E2B18A}" type="presOf" srcId="{14B75C1B-26EF-4592-A3AD-6BC3814FD573}" destId="{1A3FF94C-26C8-42F2-9322-766962C94BE7}" srcOrd="1" destOrd="0" presId="urn:microsoft.com/office/officeart/2005/8/layout/matrix1"/>
    <dgm:cxn modelId="{180E70A2-8B3F-4ED9-83E6-D58AA84B65D0}" type="presOf" srcId="{14B75C1B-26EF-4592-A3AD-6BC3814FD573}" destId="{B0EC077F-669C-4E1C-8A4F-C79100BBF39F}" srcOrd="0" destOrd="0" presId="urn:microsoft.com/office/officeart/2005/8/layout/matrix1"/>
    <dgm:cxn modelId="{4BB2B9C5-FBA4-46B7-A9EB-0D90DBEC79AF}" type="presOf" srcId="{F571036B-AA56-4B04-BB05-0C75C3DF342E}" destId="{DF9F38EE-56F0-4A04-9225-6E605334968A}" srcOrd="1" destOrd="0" presId="urn:microsoft.com/office/officeart/2005/8/layout/matrix1"/>
    <dgm:cxn modelId="{F37334D2-2F5E-44E2-AB23-DBD374334915}" type="presOf" srcId="{A5EB9D66-BC33-42E9-ABA2-6D173AD8A85A}" destId="{A0094EC4-73F5-4265-B592-064E86E5A630}" srcOrd="1" destOrd="0" presId="urn:microsoft.com/office/officeart/2005/8/layout/matrix1"/>
    <dgm:cxn modelId="{E3F5ECE3-4BA8-4594-A1CD-6D28E2DD3748}" type="presOf" srcId="{423F4BB0-C593-4EA5-BB81-43EF77C1143E}" destId="{54FC41E3-F393-4AB8-8244-F03D09060F84}" srcOrd="0" destOrd="0" presId="urn:microsoft.com/office/officeart/2005/8/layout/matrix1"/>
    <dgm:cxn modelId="{72F302E9-26AD-40DD-B7D3-840EBFC11D25}" srcId="{423F4BB0-C593-4EA5-BB81-43EF77C1143E}" destId="{BB21058D-C782-492C-816A-5D36D0F97DF5}" srcOrd="0" destOrd="0" parTransId="{6403595D-196A-446B-9410-046FFF752639}" sibTransId="{D3D005AA-0FE9-4B5E-9AAC-49DB947E618E}"/>
    <dgm:cxn modelId="{DE8B50EF-205B-4E1B-BC9B-7DE616C66277}" type="presOf" srcId="{760FD022-9D26-4A77-AC05-4A892FC22390}" destId="{2EC36B7E-7399-4819-BF76-5C66FFB6D7EA}" srcOrd="0" destOrd="0" presId="urn:microsoft.com/office/officeart/2005/8/layout/matrix1"/>
    <dgm:cxn modelId="{F44ED6F4-2EFE-48BA-84E8-654DE14C4936}" type="presOf" srcId="{A5EB9D66-BC33-42E9-ABA2-6D173AD8A85A}" destId="{9FC78CFA-F330-4B2A-A753-F22F2CA1415D}" srcOrd="0" destOrd="0" presId="urn:microsoft.com/office/officeart/2005/8/layout/matrix1"/>
    <dgm:cxn modelId="{3FD1092A-87AE-40BB-9179-3F428716733E}" type="presParOf" srcId="{2EC36B7E-7399-4819-BF76-5C66FFB6D7EA}" destId="{A6ABFDC6-9092-4DF7-9CA0-BA83ACA79F64}" srcOrd="0" destOrd="0" presId="urn:microsoft.com/office/officeart/2005/8/layout/matrix1"/>
    <dgm:cxn modelId="{E4F36F17-A92B-406C-B9C1-30542F4BB1CE}" type="presParOf" srcId="{A6ABFDC6-9092-4DF7-9CA0-BA83ACA79F64}" destId="{F7FB07DF-5FD1-4646-818F-98E126799D09}" srcOrd="0" destOrd="0" presId="urn:microsoft.com/office/officeart/2005/8/layout/matrix1"/>
    <dgm:cxn modelId="{8D5D39F2-5BDA-4D04-A2B1-D85CFC4FEB09}" type="presParOf" srcId="{A6ABFDC6-9092-4DF7-9CA0-BA83ACA79F64}" destId="{069F3596-A214-4CB6-B0B9-3FA50859058D}" srcOrd="1" destOrd="0" presId="urn:microsoft.com/office/officeart/2005/8/layout/matrix1"/>
    <dgm:cxn modelId="{9E2352E0-F97E-4A13-8864-3E76098811D3}" type="presParOf" srcId="{A6ABFDC6-9092-4DF7-9CA0-BA83ACA79F64}" destId="{9FC78CFA-F330-4B2A-A753-F22F2CA1415D}" srcOrd="2" destOrd="0" presId="urn:microsoft.com/office/officeart/2005/8/layout/matrix1"/>
    <dgm:cxn modelId="{B03426BE-82BB-4EBC-862B-8D43B59325FB}" type="presParOf" srcId="{A6ABFDC6-9092-4DF7-9CA0-BA83ACA79F64}" destId="{A0094EC4-73F5-4265-B592-064E86E5A630}" srcOrd="3" destOrd="0" presId="urn:microsoft.com/office/officeart/2005/8/layout/matrix1"/>
    <dgm:cxn modelId="{1227EA94-8F3B-4EFF-9712-04123A5FF159}" type="presParOf" srcId="{A6ABFDC6-9092-4DF7-9CA0-BA83ACA79F64}" destId="{B0EC077F-669C-4E1C-8A4F-C79100BBF39F}" srcOrd="4" destOrd="0" presId="urn:microsoft.com/office/officeart/2005/8/layout/matrix1"/>
    <dgm:cxn modelId="{018C0724-9292-4A13-8181-14A16E7C6C02}" type="presParOf" srcId="{A6ABFDC6-9092-4DF7-9CA0-BA83ACA79F64}" destId="{1A3FF94C-26C8-42F2-9322-766962C94BE7}" srcOrd="5" destOrd="0" presId="urn:microsoft.com/office/officeart/2005/8/layout/matrix1"/>
    <dgm:cxn modelId="{66A75882-199E-4CA2-ABCA-2043A941CEEB}" type="presParOf" srcId="{A6ABFDC6-9092-4DF7-9CA0-BA83ACA79F64}" destId="{2327A85A-C24F-4220-9C97-4DA24D53A713}" srcOrd="6" destOrd="0" presId="urn:microsoft.com/office/officeart/2005/8/layout/matrix1"/>
    <dgm:cxn modelId="{677A1FF5-59AB-49EF-A7E4-9F2455E6F4F8}" type="presParOf" srcId="{A6ABFDC6-9092-4DF7-9CA0-BA83ACA79F64}" destId="{DF9F38EE-56F0-4A04-9225-6E605334968A}" srcOrd="7" destOrd="0" presId="urn:microsoft.com/office/officeart/2005/8/layout/matrix1"/>
    <dgm:cxn modelId="{97D3BFEB-C969-4328-81F9-2664B7CC4C04}" type="presParOf" srcId="{2EC36B7E-7399-4819-BF76-5C66FFB6D7EA}" destId="{54FC41E3-F393-4AB8-8244-F03D09060F84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B07DF-5FD1-4646-818F-98E126799D09}">
      <dsp:nvSpPr>
        <dsp:cNvPr id="0" name=""/>
        <dsp:cNvSpPr/>
      </dsp:nvSpPr>
      <dsp:spPr>
        <a:xfrm rot="16200000">
          <a:off x="1091021" y="-1091021"/>
          <a:ext cx="2693101" cy="4875143"/>
        </a:xfrm>
        <a:prstGeom prst="round1Rect">
          <a:avLst/>
        </a:prstGeom>
        <a:solidFill>
          <a:srgbClr val="013F5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B0F0"/>
              </a:solidFill>
            </a:rPr>
            <a:t>Work Description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- Full Stack Engineering Team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- Participate and deliver per SDLC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- Provide technical and solution guidance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- Perform all operations in AGILE methodology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- Provide metrics and data on an agreed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   upon schedule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endParaRPr lang="en-US" sz="1800" b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endParaRPr lang="en-US" sz="1800" b="1" kern="1200" dirty="0"/>
        </a:p>
      </dsp:txBody>
      <dsp:txXfrm rot="5400000">
        <a:off x="0" y="0"/>
        <a:ext cx="4875143" cy="2019826"/>
      </dsp:txXfrm>
    </dsp:sp>
    <dsp:sp modelId="{9FC78CFA-F330-4B2A-A753-F22F2CA1415D}">
      <dsp:nvSpPr>
        <dsp:cNvPr id="0" name=""/>
        <dsp:cNvSpPr/>
      </dsp:nvSpPr>
      <dsp:spPr>
        <a:xfrm>
          <a:off x="4875143" y="0"/>
          <a:ext cx="4875143" cy="2693101"/>
        </a:xfrm>
        <a:prstGeom prst="round1Rect">
          <a:avLst/>
        </a:prstGeom>
        <a:solidFill>
          <a:srgbClr val="013F5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/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/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B0F0"/>
              </a:solidFill>
            </a:rPr>
            <a:t>Service Functions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Tax Manager Service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Web UI for Tax Manager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Tax Calculation Service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Test Utility for Tax Calculator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JSON Tax Rules Schema</a:t>
          </a:r>
        </a:p>
      </dsp:txBody>
      <dsp:txXfrm>
        <a:off x="4875143" y="0"/>
        <a:ext cx="4875143" cy="2019826"/>
      </dsp:txXfrm>
    </dsp:sp>
    <dsp:sp modelId="{B0EC077F-669C-4E1C-8A4F-C79100BBF39F}">
      <dsp:nvSpPr>
        <dsp:cNvPr id="0" name=""/>
        <dsp:cNvSpPr/>
      </dsp:nvSpPr>
      <dsp:spPr>
        <a:xfrm rot="10800000">
          <a:off x="0" y="2693101"/>
          <a:ext cx="4875143" cy="2693101"/>
        </a:xfrm>
        <a:prstGeom prst="round1Rect">
          <a:avLst/>
        </a:prstGeom>
        <a:solidFill>
          <a:srgbClr val="013F5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Project Plan and Phased Approach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Phase 0 – Setup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Phase 1 – Tax Manager Service and Web UI Development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Phase 2 – Tax Calculator service and Test Utility Development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 rot="10800000">
        <a:off x="0" y="3366376"/>
        <a:ext cx="4875143" cy="2019826"/>
      </dsp:txXfrm>
    </dsp:sp>
    <dsp:sp modelId="{2327A85A-C24F-4220-9C97-4DA24D53A713}">
      <dsp:nvSpPr>
        <dsp:cNvPr id="0" name=""/>
        <dsp:cNvSpPr/>
      </dsp:nvSpPr>
      <dsp:spPr>
        <a:xfrm rot="5400000">
          <a:off x="5966164" y="1602080"/>
          <a:ext cx="2693101" cy="4875143"/>
        </a:xfrm>
        <a:prstGeom prst="round1Rect">
          <a:avLst/>
        </a:prstGeom>
        <a:solidFill>
          <a:srgbClr val="013F5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Other activities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RACI matrix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Engagement Management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Organization Structure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Training and Compliance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Artifacts and Data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- Assumptions &amp; Dependencies, Risks, Schedule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/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 rot="-5400000">
        <a:off x="4875144" y="3366376"/>
        <a:ext cx="4875143" cy="2019826"/>
      </dsp:txXfrm>
    </dsp:sp>
    <dsp:sp modelId="{54FC41E3-F393-4AB8-8244-F03D09060F84}">
      <dsp:nvSpPr>
        <dsp:cNvPr id="0" name=""/>
        <dsp:cNvSpPr/>
      </dsp:nvSpPr>
      <dsp:spPr>
        <a:xfrm>
          <a:off x="3578087" y="2019826"/>
          <a:ext cx="2594112" cy="1346550"/>
        </a:xfrm>
        <a:prstGeom prst="roundRect">
          <a:avLst/>
        </a:prstGeom>
        <a:solidFill>
          <a:srgbClr val="01577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solidFill>
                <a:schemeClr val="bg1"/>
              </a:solidFill>
            </a:rPr>
            <a:t>SOW</a:t>
          </a:r>
        </a:p>
      </dsp:txBody>
      <dsp:txXfrm>
        <a:off x="3643820" y="2085559"/>
        <a:ext cx="2462646" cy="1215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FC0CD76-DF7F-402A-9EE4-F721117AD723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6226DEB-996C-4331-AF06-E5CCAA68D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0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672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8200-B693-F8FE-9EF3-5524A075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93779-FF8B-5BBC-1878-008AD2D15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C445D-2B8D-4F2A-F117-DE5F6DB28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333F5-6CD4-9425-077F-608A7D78E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464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4078-2012-37E7-8C62-780BC535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D6E14-7C0A-0FCC-BE4D-BFF032189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9994B-DA60-CB36-7D2D-B9A1F6C00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E8E2F-DF6C-8B70-364E-73893EAC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6DEB-996C-4331-AF06-E5CCAA68DF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97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9868-15BD-34B3-31E7-7BD6681F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FEEC3-332C-392B-97CD-3E8D6825B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66A90-8805-0739-E7EC-91176B837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32991-12B0-CB6A-EC3D-31AADF998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756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0B78-A455-3FF5-B476-1CB29D65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B5742-E96B-8683-2178-42D830D56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37131-47E7-BB49-CBAE-98C91BB50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B91B7-7264-A291-402E-DBAC99624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30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662-E37F-DAF7-4E55-72B7828D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AA508-22D0-FB30-C1D7-97F2A9C42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7EEF0-4969-E4D4-6DFC-39298A9FE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5CA4-BFB5-A5E7-2AEC-E31E69C66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770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1E31-6C78-4738-A08A-6CF45079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E10A-623E-9074-1CF7-3083AA738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4E424-DA8A-56BF-A71E-B73EB4CDD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145E8-F38C-1BAB-B443-728BB6833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494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5F47-AAA2-4ACE-495F-4B752375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5F1FF-2D58-7439-AF92-096D08D86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B3148-A7DB-F379-C6F7-6FC2F4782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6DB37-F405-0A19-8D23-27EE4A177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330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F43D-9DC2-2566-8AB6-B631E3E9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0A175-DD3A-D569-5C5C-37E460719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36834-8F5B-B4D2-6135-269D6BF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502F-CAE4-0422-F54B-CE19E8BBF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E7558B-0151-F540-AB5E-FD0274B0F7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774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D429-BC10-4283-BE62-BCE16E117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40CA8-8323-40D5-8703-6B207556B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9DCEC-A0A9-4F1A-9332-BE6EB07E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9A914-2AE0-4140-B9EA-B950027D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C6E8-D592-48FE-AB0C-68F53E31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09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6B94-CD2F-45EC-A58A-D0ED57C7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7A41-D4FD-4520-87E4-D7494DC2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6F1C3-DEB3-4789-BC33-30758763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71D0E-4A8E-4D51-9D4B-6B245F92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094F0-4CAE-4195-9B4C-FC2EE170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1D20-1981-48A5-8BC4-FC15D74D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2D19D-F299-4E17-A96C-53BBBC71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ABCEA-F56D-4AE4-A0A2-42A8DE5C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926C7-7E23-4E94-84B1-EC83BE29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67D90-5F46-418D-84B5-BE4B78D9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3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67B1-B1DF-44B9-BC9E-D2105EFD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82F9-0962-4569-9577-6EC6C16BE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87DFD-D9E3-495B-B516-5EDD562B9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BCA7B-DD12-48DE-A7CC-8B1139EF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26879-7B21-48AE-ADCE-D8914EE4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39871-70A3-4D94-BD5A-714CFD0F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4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5F5-F736-474C-A537-DFB5E960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DA631-11B9-4C05-AC35-B1341B817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55092-E463-4E69-B145-835D00A95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80F2B-D625-49AA-A64D-EDD65D5C4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611AF-461E-4F29-BFF5-F5926950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3551D-7BD9-4A2C-8323-D5672A4A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EE866-1982-4E51-B6D0-1D1F7064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6927B-A20A-48B2-98FD-3E850FA6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A599-40FA-4D2F-A59F-7C68A932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39900-AD06-437D-9C1E-913B8CFC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56F73-0DCB-491F-A69A-3CAF0C88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2FD39-DA9F-4524-89EB-30644329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9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729E7-1BBF-4AA8-ACE3-E90B3F36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0A5CA-412D-4BAC-86AF-5DD4D967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51E3-91AA-4D03-8FC9-04CB1496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4803-5F98-4E45-8AAC-835A424C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93B97-F16E-4F19-BD63-5EA2ECD3D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73239-CEA5-4CE0-ADAE-C39F56242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0CFF7-17AC-4B88-8CA3-676C1890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7A31D-46A7-48EC-A578-B89C3B8A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64004-9DFB-43D8-A51A-1AE294E7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6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5D91-711E-4BF9-B0FB-207F1058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ACCDA-8B4D-494B-9081-B3071B63B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9D458-94E1-411B-B0A5-FFE8FE08F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EA060-3FCB-4B58-A703-7FD59852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5DDFC-5765-4DE4-A520-93D60A3F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F690B-5D6F-49C1-B077-926B6C72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3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6B59-7A86-461C-B778-2A11843A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57ABD-B67D-45AE-87B4-C773B2D2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EC78-BFF1-42C1-B562-6B237E74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627C4-5AB8-4E29-8816-365724F3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FC60-5E1A-4B4B-98A2-A3B0EBA5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3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143F0-EB7D-4B65-8BD7-A2B5D12CD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BEDF6-4ADB-43B1-B309-6C1D38249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5DE25-FF22-4FDD-B335-C089DE93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AC2A-B744-4594-8851-1FFF2E76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AB2FC-A2CC-42B1-867D-D64AD73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09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_Page">
    <p:bg>
      <p:bgPr>
        <a:solidFill>
          <a:srgbClr val="354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5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8366" y="501652"/>
            <a:ext cx="1041823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l">
              <a:defRPr sz="3200" b="0" i="0" baseline="0">
                <a:solidFill>
                  <a:srgbClr val="0094D2"/>
                </a:solidFill>
                <a:latin typeface="Helvetica Neue Thin"/>
                <a:cs typeface="Helvetica Neue Thin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78367" y="1845733"/>
            <a:ext cx="10418232" cy="44640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1pPr>
            <a:lvl2pPr marL="609585" indent="0">
              <a:lnSpc>
                <a:spcPct val="120000"/>
              </a:lnSpc>
              <a:buFont typeface="Arial"/>
              <a:buNone/>
              <a:defRPr sz="14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2pPr>
            <a:lvl3pPr marL="1219170" indent="0">
              <a:lnSpc>
                <a:spcPct val="120000"/>
              </a:lnSpc>
              <a:buFont typeface="Arial"/>
              <a:buNone/>
              <a:defRPr sz="14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3pPr>
            <a:lvl4pPr marL="1828754" indent="0">
              <a:lnSpc>
                <a:spcPct val="120000"/>
              </a:lnSpc>
              <a:buFont typeface="Arial"/>
              <a:buNone/>
              <a:defRPr sz="14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4pPr>
            <a:lvl5pPr marL="2438339" indent="0">
              <a:lnSpc>
                <a:spcPct val="120000"/>
              </a:lnSpc>
              <a:buFont typeface="Arial"/>
              <a:buNone/>
              <a:defRPr sz="14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749" y="6408167"/>
            <a:ext cx="1669384" cy="2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79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1">
          <p15:clr>
            <a:srgbClr val="FBAE40"/>
          </p15:clr>
        </p15:guide>
        <p15:guide id="2" pos="226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237">
          <p15:clr>
            <a:srgbClr val="FBAE40"/>
          </p15:clr>
        </p15:guide>
        <p15:guide id="5" orient="horz" pos="87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folio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78367" y="501651"/>
            <a:ext cx="11235267" cy="27129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20000"/>
              </a:lnSpc>
              <a:defRPr sz="1067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749" y="6408167"/>
            <a:ext cx="1669384" cy="2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3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>
          <p15:clr>
            <a:srgbClr val="FBAE40"/>
          </p15:clr>
        </p15:guide>
        <p15:guide id="2" pos="226">
          <p15:clr>
            <a:srgbClr val="FBAE40"/>
          </p15:clr>
        </p15:guide>
        <p15:guide id="3" pos="5534">
          <p15:clr>
            <a:srgbClr val="FBAE40"/>
          </p15:clr>
        </p15:guide>
        <p15:guide id="5" orient="horz" pos="29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_Page">
    <p:bg>
      <p:bgPr>
        <a:solidFill>
          <a:srgbClr val="354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832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0F05AC9-0F01-724D-8B4A-86E3954D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E58F3F-E65D-3E4D-BBD5-DB4BA5BC8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119583"/>
            <a:ext cx="7772400" cy="4169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45776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E52FF-B4AE-4E49-A4E4-73F5BC6F9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9C4B4F-B188-CE47-A3A3-D104AE722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7350" y="2209270"/>
            <a:ext cx="7356021" cy="178087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10000"/>
              </a:lnSpc>
              <a:defRPr sz="3600" b="0">
                <a:solidFill>
                  <a:schemeClr val="tx1"/>
                </a:solidFill>
                <a:highlight>
                  <a:srgbClr val="FFFDFF"/>
                </a:highlight>
              </a:defRPr>
            </a:lvl1pPr>
          </a:lstStyle>
          <a:p>
            <a:r>
              <a:rPr lang="en-US"/>
              <a:t>The big picture is that our tape effect sort of looks like the highlight tool. </a:t>
            </a:r>
          </a:p>
        </p:txBody>
      </p:sp>
    </p:spTree>
    <p:extLst>
      <p:ext uri="{BB962C8B-B14F-4D97-AF65-F5344CB8AC3E}">
        <p14:creationId xmlns:p14="http://schemas.microsoft.com/office/powerpoint/2010/main" val="24148919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BC1814B-C683-5743-A38C-22F7A279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319014-337F-6F4E-ADC3-3BA90483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527443"/>
            <a:ext cx="4226278" cy="47618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5029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22A720-FBD8-F246-A2B0-1775E44081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2847" y="1527445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9989E2F-8147-134B-B1D2-7416CB28E6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52492" y="1527444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75D437D-ABCC-2140-8E1C-9F10DD1A15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82137" y="1527443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ECB7402-1B6C-6344-A165-9410BA9917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2847" y="3052318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5EC30313-DC04-9B4F-BF15-ACAC6C8A85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2492" y="3052317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34EFC915-F3D7-554D-A47D-F51434A240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2137" y="3052316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392BDEE-F21B-CC41-8F98-49BF83A128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22847" y="4577191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5B2E69FE-9612-9847-83D6-208C2D6B1F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52492" y="4577190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6FD1080-A656-184D-9A2C-EA58115499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137" y="4577189"/>
            <a:ext cx="1185863" cy="11842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2476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BC1814B-C683-5743-A38C-22F7A279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319014-337F-6F4E-ADC3-3BA90483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1527444"/>
            <a:ext cx="10607855" cy="9710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5029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22A720-FBD8-F246-A2B0-1775E44081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605" y="2962008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9989E2F-8147-134B-B1D2-7416CB28E6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2962007"/>
            <a:ext cx="1185863" cy="11842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A9A25-FC5C-6742-BA1F-6F612B642B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5488" y="2962006"/>
            <a:ext cx="3684587" cy="3541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6E17A28-434F-5B47-AC23-18AA2D2229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94767" y="2962006"/>
            <a:ext cx="3684587" cy="3541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41066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0F05AC9-0F01-724D-8B4A-86E3954D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E58F3F-E65D-3E4D-BBD5-DB4BA5BC8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119583"/>
            <a:ext cx="7772400" cy="4169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00284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with_SupportTex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974CB-7B56-7544-B00C-90A5C5912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BB5C4-9158-BE40-89D4-E675EE7257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76A51B-2785-1341-89B1-D95E551B61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527617"/>
            <a:ext cx="9182100" cy="5802765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Aft>
                <a:spcPts val="2400"/>
              </a:spcAft>
              <a:buNone/>
              <a:defRPr sz="3600">
                <a:solidFill>
                  <a:schemeClr val="accent4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225799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BA7B328-5D31-3449-B108-2D584B85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629187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9F414-312E-F643-AEA6-97F2210B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5929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bject, skiing, lamp, person&#10;&#10;Description automatically generated">
            <a:extLst>
              <a:ext uri="{FF2B5EF4-FFF2-40B4-BE49-F238E27FC236}">
                <a16:creationId xmlns:a16="http://schemas.microsoft.com/office/drawing/2014/main" id="{49191F15-E87C-C744-BB9D-CFFB9A0BF9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04E94-B702-D144-A213-350A6CA20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DBB5C4-9158-BE40-89D4-E675EE7257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CAA7DEFE-3A25-2D4E-A9C4-DF998CB0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600200"/>
            <a:ext cx="86868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00914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necklace&#10;&#10;Description automatically generated">
            <a:extLst>
              <a:ext uri="{FF2B5EF4-FFF2-40B4-BE49-F238E27FC236}">
                <a16:creationId xmlns:a16="http://schemas.microsoft.com/office/drawing/2014/main" id="{19AEA43C-B148-DF43-ABD9-4D32728FA0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04E94-B702-D144-A213-350A6CA20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DBB5C4-9158-BE40-89D4-E675EE7257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65A027E4-EAD2-A24C-A149-6E733214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600200"/>
            <a:ext cx="86868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0731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04E94-B702-D144-A213-350A6CA20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DBB5C4-9158-BE40-89D4-E675EE7257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41CE328C-4210-CD45-B9E0-1E3E18797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1333500"/>
            <a:ext cx="4191000" cy="4191000"/>
          </a:xfrm>
          <a:prstGeom prst="rect">
            <a:avLst/>
          </a:prstGeom>
        </p:spPr>
      </p:pic>
      <p:sp>
        <p:nvSpPr>
          <p:cNvPr id="9" name="Title 5">
            <a:extLst>
              <a:ext uri="{FF2B5EF4-FFF2-40B4-BE49-F238E27FC236}">
                <a16:creationId xmlns:a16="http://schemas.microsoft.com/office/drawing/2014/main" id="{CAA7DEFE-3A25-2D4E-A9C4-DF998CB0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600200"/>
            <a:ext cx="86868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469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04E94-B702-D144-A213-350A6CA20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DBB5C4-9158-BE40-89D4-E675EE7257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unnel, building, mirror&#10;&#10;Description automatically generated">
            <a:extLst>
              <a:ext uri="{FF2B5EF4-FFF2-40B4-BE49-F238E27FC236}">
                <a16:creationId xmlns:a16="http://schemas.microsoft.com/office/drawing/2014/main" id="{4DCA605B-394B-BD4C-B2C0-9C56269F9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7000" y="1270000"/>
            <a:ext cx="4318000" cy="4318000"/>
          </a:xfrm>
          <a:prstGeom prst="rect">
            <a:avLst/>
          </a:prstGeom>
        </p:spPr>
      </p:pic>
      <p:sp>
        <p:nvSpPr>
          <p:cNvPr id="9" name="Title 5">
            <a:extLst>
              <a:ext uri="{FF2B5EF4-FFF2-40B4-BE49-F238E27FC236}">
                <a16:creationId xmlns:a16="http://schemas.microsoft.com/office/drawing/2014/main" id="{CAA7DEFE-3A25-2D4E-A9C4-DF998CB0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600200"/>
            <a:ext cx="86868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67577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E52FF-B4AE-4E49-A4E4-73F5BC6F9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F5E20EB-AFDD-8842-85D9-88839E485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7350" y="2209270"/>
            <a:ext cx="7356021" cy="178087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10000"/>
              </a:lnSpc>
              <a:defRPr sz="3600" b="0">
                <a:solidFill>
                  <a:schemeClr val="bg1"/>
                </a:solidFill>
                <a:highlight>
                  <a:srgbClr val="0068FF"/>
                </a:highlight>
              </a:defRPr>
            </a:lvl1pPr>
          </a:lstStyle>
          <a:p>
            <a:r>
              <a:rPr lang="en-US"/>
              <a:t>The big picture is that our tape effect sort of looks like the highlight tool. </a:t>
            </a:r>
          </a:p>
        </p:txBody>
      </p:sp>
    </p:spTree>
    <p:extLst>
      <p:ext uri="{BB962C8B-B14F-4D97-AF65-F5344CB8AC3E}">
        <p14:creationId xmlns:p14="http://schemas.microsoft.com/office/powerpoint/2010/main" val="28462788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E52FF-B4AE-4E49-A4E4-73F5BC6F9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9C4B4F-B188-CE47-A3A3-D104AE722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7350" y="2209270"/>
            <a:ext cx="7356021" cy="178087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10000"/>
              </a:lnSpc>
              <a:defRPr sz="3600" b="0">
                <a:solidFill>
                  <a:schemeClr val="tx1"/>
                </a:solidFill>
                <a:highlight>
                  <a:srgbClr val="FFFDFF"/>
                </a:highlight>
              </a:defRPr>
            </a:lvl1pPr>
          </a:lstStyle>
          <a:p>
            <a:r>
              <a:rPr lang="en-US"/>
              <a:t>The big picture is that our tape effect sort of looks like the highlight tool. </a:t>
            </a:r>
          </a:p>
        </p:txBody>
      </p:sp>
    </p:spTree>
    <p:extLst>
      <p:ext uri="{BB962C8B-B14F-4D97-AF65-F5344CB8AC3E}">
        <p14:creationId xmlns:p14="http://schemas.microsoft.com/office/powerpoint/2010/main" val="31526184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6CC07-CA1D-F84D-A822-0BD096DB9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E3EA6-1E46-2C42-9A48-510C8A0AF64D}"/>
              </a:ext>
            </a:extLst>
          </p:cNvPr>
          <p:cNvSpPr/>
          <p:nvPr userDrawn="1"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643997B-9304-6D46-95B9-2BC1AED2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603357"/>
            <a:ext cx="4937760" cy="387798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0FB3B07-FDE8-BF4D-B0C2-537DE74782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21960" y="816017"/>
            <a:ext cx="5029200" cy="55524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DE3CED9-D793-534B-9620-F88E428F26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6935" y="3429000"/>
            <a:ext cx="4937760" cy="2939443"/>
          </a:xfrm>
        </p:spPr>
        <p:txBody>
          <a:bodyPr/>
          <a:lstStyle>
            <a:lvl1pPr>
              <a:buClr>
                <a:schemeClr val="tx1"/>
              </a:buClr>
              <a:defRPr sz="1600"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461EEA-FAD0-014D-B1B1-D871A8C6A960}"/>
              </a:ext>
            </a:extLst>
          </p:cNvPr>
          <p:cNvCxnSpPr>
            <a:cxnSpLocks/>
          </p:cNvCxnSpPr>
          <p:nvPr userDrawn="1"/>
        </p:nvCxnSpPr>
        <p:spPr>
          <a:xfrm>
            <a:off x="6318504" y="603357"/>
            <a:ext cx="5029200" cy="4352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55087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8F4B9-DD92-4A79-BB63-63CBFC5C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28E63-6F31-4AFC-A75E-AE5715CA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C69C5-73D9-4890-A3B2-DA7423B30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00FE0-A936-419F-8F87-855001474DA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F18A6-3E8B-458E-A7D5-5E5E90277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1DFE-17D9-47E0-B078-F56A7437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49825-3D54-4929-80B5-9779F53DB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49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5CEFA3E-340C-0941-89B8-65C8FD6CC73C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788704" y="6451648"/>
            <a:ext cx="237744" cy="23774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88714-02C9-8F41-A333-EDA4624F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3357"/>
            <a:ext cx="100965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DA05B-409D-6B45-8AF0-181ABB737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2119583"/>
            <a:ext cx="7772400" cy="4169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BD28F6-AF51-DA45-97E7-D1204C449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0499" y="211138"/>
            <a:ext cx="5715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B82E8F-22EF-1640-94B1-E355956526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7DFA297-CBC7-8D4B-B651-1C56662580AA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17619" y="1809424"/>
            <a:ext cx="27772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1" i="0" kern="1200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North   </a:t>
            </a:r>
            <a:r>
              <a:rPr lang="en-US" sz="650" b="0" i="0" kern="1200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TEKsystems Company</a:t>
            </a:r>
          </a:p>
        </p:txBody>
      </p:sp>
    </p:spTree>
    <p:extLst>
      <p:ext uri="{BB962C8B-B14F-4D97-AF65-F5344CB8AC3E}">
        <p14:creationId xmlns:p14="http://schemas.microsoft.com/office/powerpoint/2010/main" val="375227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0">
          <p15:clr>
            <a:srgbClr val="F26B43"/>
          </p15:clr>
        </p15:guide>
        <p15:guide id="3" pos="360">
          <p15:clr>
            <a:srgbClr val="F26B43"/>
          </p15:clr>
        </p15:guide>
        <p15:guide id="5" orient="horz" pos="120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pos="7320">
          <p15:clr>
            <a:srgbClr val="F26B43"/>
          </p15:clr>
        </p15:guide>
        <p15:guide id="8" pos="840">
          <p15:clr>
            <a:srgbClr val="F26B43"/>
          </p15:clr>
        </p15:guide>
        <p15:guide id="9" orient="horz" pos="360">
          <p15:clr>
            <a:srgbClr val="F26B43"/>
          </p15:clr>
        </p15:guide>
        <p15:guide id="10" pos="1440">
          <p15:clr>
            <a:srgbClr val="F26B43"/>
          </p15:clr>
        </p15:guide>
        <p15:guide id="11" pos="2616">
          <p15:clr>
            <a:srgbClr val="F26B43"/>
          </p15:clr>
        </p15:guide>
        <p15:guide id="12" pos="2112">
          <p15:clr>
            <a:srgbClr val="F26B43"/>
          </p15:clr>
        </p15:guide>
        <p15:guide id="13" pos="1536">
          <p15:clr>
            <a:srgbClr val="F26B43"/>
          </p15:clr>
        </p15:guide>
        <p15:guide id="14" pos="936">
          <p15:clr>
            <a:srgbClr val="F26B43"/>
          </p15:clr>
        </p15:guide>
        <p15:guide id="15" pos="2712">
          <p15:clr>
            <a:srgbClr val="F26B43"/>
          </p15:clr>
        </p15:guide>
        <p15:guide id="16" pos="3192">
          <p15:clr>
            <a:srgbClr val="F26B43"/>
          </p15:clr>
        </p15:guide>
        <p15:guide id="17" pos="3288">
          <p15:clr>
            <a:srgbClr val="F26B43"/>
          </p15:clr>
        </p15:guide>
        <p15:guide id="18" pos="3792">
          <p15:clr>
            <a:srgbClr val="F26B43"/>
          </p15:clr>
        </p15:guide>
        <p15:guide id="19" pos="3888">
          <p15:clr>
            <a:srgbClr val="F26B43"/>
          </p15:clr>
        </p15:guide>
        <p15:guide id="20" pos="4368">
          <p15:clr>
            <a:srgbClr val="F26B43"/>
          </p15:clr>
        </p15:guide>
        <p15:guide id="21" pos="4464">
          <p15:clr>
            <a:srgbClr val="F26B43"/>
          </p15:clr>
        </p15:guide>
        <p15:guide id="22" pos="4968">
          <p15:clr>
            <a:srgbClr val="F26B43"/>
          </p15:clr>
        </p15:guide>
        <p15:guide id="23" pos="5064">
          <p15:clr>
            <a:srgbClr val="F26B43"/>
          </p15:clr>
        </p15:guide>
        <p15:guide id="24" pos="5568">
          <p15:clr>
            <a:srgbClr val="F26B43"/>
          </p15:clr>
        </p15:guide>
        <p15:guide id="25" pos="5640">
          <p15:clr>
            <a:srgbClr val="F26B43"/>
          </p15:clr>
        </p15:guide>
        <p15:guide id="26" pos="6144">
          <p15:clr>
            <a:srgbClr val="F26B43"/>
          </p15:clr>
        </p15:guide>
        <p15:guide id="27" pos="6240">
          <p15:clr>
            <a:srgbClr val="F26B43"/>
          </p15:clr>
        </p15:guide>
        <p15:guide id="28" pos="6720">
          <p15:clr>
            <a:srgbClr val="F26B43"/>
          </p15:clr>
        </p15:guide>
        <p15:guide id="29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ksireesha@teksystems.com" TargetMode="External"/><Relationship Id="rId3" Type="http://schemas.openxmlformats.org/officeDocument/2006/relationships/hyperlink" Target="mailto:nmastiramam@teksystems.com" TargetMode="External"/><Relationship Id="rId7" Type="http://schemas.openxmlformats.org/officeDocument/2006/relationships/hyperlink" Target="mailto:sauthakur@teksystems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bobmyers@teksystems.com" TargetMode="External"/><Relationship Id="rId5" Type="http://schemas.openxmlformats.org/officeDocument/2006/relationships/hyperlink" Target="mailto:jleblanc@teksystems.com" TargetMode="External"/><Relationship Id="rId4" Type="http://schemas.openxmlformats.org/officeDocument/2006/relationships/hyperlink" Target="mailto:ssubramanyam@teksystems.com" TargetMode="External"/><Relationship Id="rId9" Type="http://schemas.openxmlformats.org/officeDocument/2006/relationships/hyperlink" Target="mailto:ppatnaik@teksystems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26" b="-4149"/>
          <a:stretch/>
        </p:blipFill>
        <p:spPr>
          <a:xfrm>
            <a:off x="2975959" y="2406021"/>
            <a:ext cx="6240080" cy="13891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F6CF24-011E-4B19-BB06-F15A23A34ACF}"/>
              </a:ext>
            </a:extLst>
          </p:cNvPr>
          <p:cNvSpPr txBox="1"/>
          <p:nvPr/>
        </p:nvSpPr>
        <p:spPr>
          <a:xfrm>
            <a:off x="2705569" y="3474302"/>
            <a:ext cx="6780860" cy="641739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noAutofit/>
          </a:bodyPr>
          <a:lstStyle/>
          <a:p>
            <a:pPr marL="0" marR="0" lvl="0" indent="0" algn="ctr" defTabSz="1100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Helvetica Neue" panose="02000503000000020004" pitchFamily="2" charset="0"/>
              </a:rPr>
              <a:t>Tax Service Development – Managed Service</a:t>
            </a:r>
          </a:p>
        </p:txBody>
      </p:sp>
    </p:spTree>
    <p:extLst>
      <p:ext uri="{BB962C8B-B14F-4D97-AF65-F5344CB8AC3E}">
        <p14:creationId xmlns:p14="http://schemas.microsoft.com/office/powerpoint/2010/main" val="369142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0E4E8-F4B7-4E51-91A6-24C8900C1758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1DB9505-201E-438A-95E2-D8D47C0DED71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AGENDA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5F6513-D82E-9BF2-E535-F8F879FD3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23846"/>
              </p:ext>
            </p:extLst>
          </p:nvPr>
        </p:nvGraphicFramePr>
        <p:xfrm>
          <a:off x="1268993" y="725513"/>
          <a:ext cx="9654014" cy="5887810"/>
        </p:xfrm>
        <a:graphic>
          <a:graphicData uri="http://schemas.openxmlformats.org/drawingml/2006/table">
            <a:tbl>
              <a:tblPr firstRow="1" bandRow="1"/>
              <a:tblGrid>
                <a:gridCol w="482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7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781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bg1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Slide Information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b="0" i="0" kern="1200" dirty="0">
                          <a:solidFill>
                            <a:schemeClr val="bg1"/>
                          </a:solidFill>
                          <a:latin typeface="+mn-lt"/>
                          <a:ea typeface="Calibri Light" charset="0"/>
                          <a:cs typeface="Calibri Light" charset="0"/>
                        </a:rPr>
                        <a:t>Slide Number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55742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Scope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3</a:t>
                      </a:r>
                      <a:endParaRPr lang="en-US" sz="1400" b="0" i="0" kern="1200" dirty="0">
                        <a:solidFill>
                          <a:srgbClr val="013F53"/>
                        </a:solidFill>
                        <a:latin typeface="+mn-lt"/>
                        <a:ea typeface="Calibri Light" charset="0"/>
                        <a:cs typeface="Calibri Light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67109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Onboarding Plan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4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508381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Work Process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62986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Full Stack Engineering Team – India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 charset="0"/>
                          <a:cs typeface="Calibri Light" charset="0"/>
                        </a:rPr>
                        <a:t>6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82314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MEWS Team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7</a:t>
                      </a:r>
                      <a:endParaRPr lang="en-US" sz="1400" b="0" i="0" dirty="0">
                        <a:solidFill>
                          <a:srgbClr val="013F53"/>
                        </a:solidFill>
                        <a:latin typeface="+mn-lt"/>
                        <a:ea typeface="Calibri Light" charset="0"/>
                        <a:cs typeface="Calibri Light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243957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Project Governance Communication Plans</a:t>
                      </a:r>
                      <a:endParaRPr lang="en-US" sz="1400" b="1" i="0" dirty="0">
                        <a:solidFill>
                          <a:srgbClr val="013F53"/>
                        </a:solidFill>
                        <a:highlight>
                          <a:srgbClr val="FFFF00"/>
                        </a:highlight>
                        <a:latin typeface="+mn-lt"/>
                        <a:ea typeface="Calibri Light"/>
                        <a:cs typeface="Calibri Ligh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 charset="0"/>
                          <a:cs typeface="Calibri Light"/>
                        </a:rPr>
                        <a:t>8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25924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lvl="0" algn="ctr" defTabSz="685800" rtl="0" eaLnBrk="1" latinLnBrk="0" hangingPunct="1">
                        <a:buNone/>
                      </a:pPr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Sample Project Performance Metrics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 charset="0"/>
                          <a:cs typeface="Calibri Light"/>
                        </a:rPr>
                        <a:t>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678910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lvl="0" algn="ctr" defTabSz="685800" rtl="0" eaLnBrk="1" latinLnBrk="0" hangingPunct="1">
                        <a:buNone/>
                      </a:pPr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Engagement Logistics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 charset="0"/>
                          <a:cs typeface="Calibri Light"/>
                        </a:rPr>
                        <a:t>10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121155"/>
                  </a:ext>
                </a:extLst>
              </a:tr>
              <a:tr h="588781">
                <a:tc>
                  <a:txBody>
                    <a:bodyPr/>
                    <a:lstStyle/>
                    <a:p>
                      <a:pPr marL="0" lvl="0" algn="ctr" defTabSz="685800" rtl="0" eaLnBrk="1" latinLnBrk="0" hangingPunct="1">
                        <a:buNone/>
                      </a:pPr>
                      <a:r>
                        <a:rPr lang="en-US" sz="1400" b="0" i="0" kern="1200" dirty="0">
                          <a:solidFill>
                            <a:srgbClr val="013F53"/>
                          </a:solidFill>
                          <a:latin typeface="+mn-lt"/>
                          <a:ea typeface="Calibri Light"/>
                          <a:cs typeface="Calibri Light"/>
                        </a:rPr>
                        <a:t>Q&amp;A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013F53"/>
                          </a:solidFill>
                          <a:latin typeface="+mn-lt"/>
                          <a:ea typeface="Calibri Light" charset="0"/>
                          <a:cs typeface="Calibri Light"/>
                        </a:rPr>
                        <a:t>11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916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6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BCBF-0A20-D5E4-DCAA-D3833D34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2E8A1-DEC1-1BBB-309E-AB2655D75134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5D790DD-2077-CC38-EF3C-82CBB159C89A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SCOPE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538C96-5386-D222-B949-83204ADB2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4857979"/>
              </p:ext>
            </p:extLst>
          </p:nvPr>
        </p:nvGraphicFramePr>
        <p:xfrm>
          <a:off x="1302026" y="894522"/>
          <a:ext cx="9750287" cy="5386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426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76B80-75B8-588A-9168-85B10425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836B09-918E-5EB6-1A6E-EC5D5AE6FFC4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defTabSz="609585"/>
            <a:r>
              <a:rPr lang="fr-CA" sz="1300" spc="400" dirty="0">
                <a:solidFill>
                  <a:srgbClr val="01577C"/>
                </a:solidFill>
                <a:latin typeface="Apple SD Gothic Neo Medium" panose="02000300000000000000" pitchFamily="2" charset="-127"/>
                <a:ea typeface="Apple SD Gothic Neo Medium"/>
                <a:cs typeface="Avenir Book" charset="0"/>
              </a:rPr>
              <a:t>  </a:t>
            </a:r>
            <a:r>
              <a:rPr lang="fr-CA" sz="1300" spc="400" dirty="0">
                <a:solidFill>
                  <a:srgbClr val="354759"/>
                </a:solidFill>
                <a:latin typeface="Apple SD Gothic Neo Medium" panose="02000300000000000000" pitchFamily="2" charset="-127"/>
                <a:ea typeface="Apple SD Gothic Neo Medium"/>
                <a:cs typeface="Avenir Book" charset="0"/>
              </a:rPr>
              <a:t>TEKSYSTEMS </a:t>
            </a:r>
            <a:r>
              <a:rPr lang="en-US" sz="1300" dirty="0">
                <a:solidFill>
                  <a:prstClr val="white">
                    <a:lumMod val="65000"/>
                  </a:prstClr>
                </a:solidFill>
                <a:latin typeface="Apple SD Gothic Neo Medium" panose="02000300000000000000" pitchFamily="2" charset="-127"/>
                <a:ea typeface="Apple SD Gothic Neo Medium"/>
                <a:cs typeface="Avenir Book" charset="0"/>
              </a:rPr>
              <a:t>|   </a:t>
            </a:r>
            <a:r>
              <a:rPr lang="fr-CA" sz="1300" spc="400" dirty="0">
                <a:solidFill>
                  <a:srgbClr val="0094D2"/>
                </a:solidFill>
                <a:latin typeface="Apple SD Gothic Neo Medium" panose="02000300000000000000" pitchFamily="2" charset="-127"/>
                <a:ea typeface="Apple SD Gothic Neo Medium"/>
                <a:cs typeface="Avenir Book" charset="0"/>
              </a:rPr>
              <a:t>ONBOARDING PLAN</a:t>
            </a:r>
            <a:endParaRPr lang="en-CA" sz="1333" spc="400" dirty="0">
              <a:solidFill>
                <a:srgbClr val="00B050"/>
              </a:solidFill>
              <a:highlight>
                <a:srgbClr val="FFFF00"/>
              </a:highlight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50FDB-6201-437C-CDAC-BE5921689F72}"/>
              </a:ext>
            </a:extLst>
          </p:cNvPr>
          <p:cNvSpPr/>
          <p:nvPr/>
        </p:nvSpPr>
        <p:spPr>
          <a:xfrm>
            <a:off x="0" y="792505"/>
            <a:ext cx="12208370" cy="328136"/>
          </a:xfrm>
          <a:prstGeom prst="rect">
            <a:avLst/>
          </a:prstGeom>
          <a:solidFill>
            <a:srgbClr val="264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1867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514E48-108D-FC92-81BD-4F37DA3C2F4B}"/>
              </a:ext>
            </a:extLst>
          </p:cNvPr>
          <p:cNvSpPr txBox="1"/>
          <p:nvPr/>
        </p:nvSpPr>
        <p:spPr>
          <a:xfrm>
            <a:off x="9909313" y="6397141"/>
            <a:ext cx="2037522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243C5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5AB73-6786-65A7-AC5B-5DFD5BA374C6}"/>
              </a:ext>
            </a:extLst>
          </p:cNvPr>
          <p:cNvSpPr txBox="1">
            <a:spLocks/>
          </p:cNvSpPr>
          <p:nvPr/>
        </p:nvSpPr>
        <p:spPr>
          <a:xfrm>
            <a:off x="3733645" y="811528"/>
            <a:ext cx="4688613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algn="ctr" defTabSz="609585"/>
            <a:r>
              <a:rPr lang="fr-CA" sz="1333" spc="400" dirty="0">
                <a:solidFill>
                  <a:prstClr val="white"/>
                </a:solidFill>
                <a:latin typeface="+mj-lt"/>
                <a:ea typeface="Apple SD Gothic Neo Medium" panose="02000300000000000000" pitchFamily="2" charset="-127"/>
                <a:cs typeface="Avenir Book" charset="0"/>
              </a:rPr>
              <a:t>TIMELINES</a:t>
            </a:r>
            <a:endParaRPr lang="en-CA" sz="1333" spc="400" dirty="0">
              <a:solidFill>
                <a:prstClr val="white"/>
              </a:solidFill>
              <a:latin typeface="+mj-lt"/>
              <a:ea typeface="Apple SD Gothic Neo Medium" panose="02000300000000000000" pitchFamily="2" charset="-127"/>
              <a:cs typeface="Avenir Book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3C25CE-F3AE-7411-5966-AFA08B189157}"/>
              </a:ext>
            </a:extLst>
          </p:cNvPr>
          <p:cNvSpPr/>
          <p:nvPr/>
        </p:nvSpPr>
        <p:spPr>
          <a:xfrm>
            <a:off x="128609" y="6405852"/>
            <a:ext cx="3714748" cy="390105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/>
          <a:p>
            <a:pPr defTabSz="914401"/>
            <a:endParaRPr lang="en-US" sz="1735" dirty="0">
              <a:solidFill>
                <a:srgbClr val="002C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D1FC09-1B95-1F80-7ADB-75A6FAB0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62998"/>
              </p:ext>
            </p:extLst>
          </p:nvPr>
        </p:nvGraphicFramePr>
        <p:xfrm>
          <a:off x="189448" y="1377189"/>
          <a:ext cx="11829473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619">
                  <a:extLst>
                    <a:ext uri="{9D8B030D-6E8A-4147-A177-3AD203B41FA5}">
                      <a16:colId xmlns:a16="http://schemas.microsoft.com/office/drawing/2014/main" val="386895686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377710583"/>
                    </a:ext>
                  </a:extLst>
                </a:gridCol>
                <a:gridCol w="3366654">
                  <a:extLst>
                    <a:ext uri="{9D8B030D-6E8A-4147-A177-3AD203B41FA5}">
                      <a16:colId xmlns:a16="http://schemas.microsoft.com/office/drawing/2014/main" val="3625763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Timeline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Activity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Status Update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65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02/10/2025 to 02/14/2025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SOW Signature and Contract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Initial kick-off with business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Get resources confirmed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013F5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00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02/17/2025 to 02/28/2025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Finalize all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Introduce the team to MEWS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Establish initial project level meeting with MEWS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Get hardware and software requirements completed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Resolve pending open items and have all things in place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Start the cadence for Sprint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Plan AGILE and JIRA structures with MEWS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Setup project level meetings (DSU’s, bi-weekly meetings, weekly cadence….)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013F5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245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03/03/2025 to 03/07/2025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Begin Sprint 1 with a good backlog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Development work to begin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013F5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63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03/10/2025 to 03/14/2025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entire team is up and running and open positions are fulfilled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Monitor sprint execution and cadence and ensure any impediments are removed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Create initial version of metrics and review with MEWS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013F5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719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03/17/2025 to 03/21/2025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things run in seamless mode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Create first version of metrics for sprints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Retrospectives and other post sprint related AGILE ceremonies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013F5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33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31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A686-FC71-6E06-69B3-243CE75C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3ACEC7-4A9D-88D4-F941-FBB8485BA7F7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5A39593-F67A-9806-7C37-5D1DFB391735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WORK PROCESS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DD9ACD-F410-059E-82C1-CB2CB96DD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687380"/>
              </p:ext>
            </p:extLst>
          </p:nvPr>
        </p:nvGraphicFramePr>
        <p:xfrm>
          <a:off x="215152" y="1183341"/>
          <a:ext cx="11781377" cy="5097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26">
                  <a:extLst>
                    <a:ext uri="{9D8B030D-6E8A-4147-A177-3AD203B41FA5}">
                      <a16:colId xmlns:a16="http://schemas.microsoft.com/office/drawing/2014/main" val="1974222282"/>
                    </a:ext>
                  </a:extLst>
                </a:gridCol>
                <a:gridCol w="8293351">
                  <a:extLst>
                    <a:ext uri="{9D8B030D-6E8A-4147-A177-3AD203B41FA5}">
                      <a16:colId xmlns:a16="http://schemas.microsoft.com/office/drawing/2014/main" val="2805578650"/>
                    </a:ext>
                  </a:extLst>
                </a:gridCol>
              </a:tblGrid>
              <a:tr h="7143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Mitigation Plan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353892"/>
                  </a:ext>
                </a:extLst>
              </a:tr>
              <a:tr h="51602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Delay in Sprint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Retrospectives from every sprint, understand issues and take corrective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44830"/>
                  </a:ext>
                </a:extLst>
              </a:tr>
              <a:tr h="51602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Resource 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Emergency issues may arise, we need to have other resources be able to pick the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77866"/>
                  </a:ext>
                </a:extLst>
              </a:tr>
              <a:tr h="51602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Over committing v/s under committing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Analyze on a sprint-by-sprint basis, and take corrective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70718"/>
                  </a:ext>
                </a:extLst>
              </a:tr>
              <a:tr h="51602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Infrastructure related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Work with client to minimize delays and enable smooth working across shores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148026"/>
                  </a:ext>
                </a:extLst>
              </a:tr>
              <a:tr h="4695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Scope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scope is discussed, finalized and warranted changes are accepted during middle of sprints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350973"/>
                  </a:ext>
                </a:extLst>
              </a:tr>
              <a:tr h="51602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Communication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there is direct communication with client, internal resources and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546"/>
                  </a:ext>
                </a:extLst>
              </a:tr>
              <a:tr h="66669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Implementing outcomes from sprint retrospectives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there is at least one item from each retrospective that is addressed with proper planning in forthcoming sprints, add on to the improvement areas sprint on sprint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554743"/>
                  </a:ext>
                </a:extLst>
              </a:tr>
              <a:tr h="66669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Availability of MEWS SMEs to perform various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Ensure there is adequate UAT at the end of each sprint, ensure there is complete sign-off from MEWS point contact before moving on to next sprint.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97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D0444A-441F-6EDD-D8DC-A3CFB0021882}"/>
              </a:ext>
            </a:extLst>
          </p:cNvPr>
          <p:cNvSpPr txBox="1"/>
          <p:nvPr/>
        </p:nvSpPr>
        <p:spPr>
          <a:xfrm>
            <a:off x="3875333" y="655137"/>
            <a:ext cx="4441333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13F53"/>
                </a:solidFill>
                <a:latin typeface="Arial" panose="020B0604020202020204"/>
              </a:rPr>
              <a:t>Risks and Mitigation Plan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3F5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62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0BAD3-A489-34C6-2596-7B458A93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EA7F0-7DAA-DCC6-DC91-217FE7E22B8C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DF5E8C8-5F9A-56EA-27A0-13A8AEE411D2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FULL STACK ENGINEERING TEAM – </a:t>
            </a:r>
            <a:r>
              <a:rPr lang="fr-CA" sz="1333" spc="400" dirty="0">
                <a:solidFill>
                  <a:srgbClr val="0094D2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US/CANADA/INDIA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F05211-B3D3-D3A8-688E-47BE92244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241382"/>
              </p:ext>
            </p:extLst>
          </p:nvPr>
        </p:nvGraphicFramePr>
        <p:xfrm>
          <a:off x="181739" y="863468"/>
          <a:ext cx="11828522" cy="5731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732">
                  <a:extLst>
                    <a:ext uri="{9D8B030D-6E8A-4147-A177-3AD203B41FA5}">
                      <a16:colId xmlns:a16="http://schemas.microsoft.com/office/drawing/2014/main" val="3789837828"/>
                    </a:ext>
                  </a:extLst>
                </a:gridCol>
                <a:gridCol w="2873151">
                  <a:extLst>
                    <a:ext uri="{9D8B030D-6E8A-4147-A177-3AD203B41FA5}">
                      <a16:colId xmlns:a16="http://schemas.microsoft.com/office/drawing/2014/main" val="2398423000"/>
                    </a:ext>
                  </a:extLst>
                </a:gridCol>
                <a:gridCol w="1767152">
                  <a:extLst>
                    <a:ext uri="{9D8B030D-6E8A-4147-A177-3AD203B41FA5}">
                      <a16:colId xmlns:a16="http://schemas.microsoft.com/office/drawing/2014/main" val="696595909"/>
                    </a:ext>
                  </a:extLst>
                </a:gridCol>
                <a:gridCol w="1767152">
                  <a:extLst>
                    <a:ext uri="{9D8B030D-6E8A-4147-A177-3AD203B41FA5}">
                      <a16:colId xmlns:a16="http://schemas.microsoft.com/office/drawing/2014/main" val="3364908079"/>
                    </a:ext>
                  </a:extLst>
                </a:gridCol>
                <a:gridCol w="1757653">
                  <a:extLst>
                    <a:ext uri="{9D8B030D-6E8A-4147-A177-3AD203B41FA5}">
                      <a16:colId xmlns:a16="http://schemas.microsoft.com/office/drawing/2014/main" val="1562049381"/>
                    </a:ext>
                  </a:extLst>
                </a:gridCol>
                <a:gridCol w="2099682">
                  <a:extLst>
                    <a:ext uri="{9D8B030D-6E8A-4147-A177-3AD203B41FA5}">
                      <a16:colId xmlns:a16="http://schemas.microsoft.com/office/drawing/2014/main" val="2069210443"/>
                    </a:ext>
                  </a:extLst>
                </a:gridCol>
              </a:tblGrid>
              <a:tr h="13109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Location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Tentative onboarding date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Work Hours (Monday to Friday)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32201"/>
                  </a:ext>
                </a:extLst>
              </a:tr>
              <a:tr h="5262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Senior Engagement Manager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NandaGopal MastiRamamurthy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(Nanda Masti) (</a:t>
                      </a:r>
                      <a:r>
                        <a:rPr lang="en-US" sz="1200" u="none" dirty="0">
                          <a:solidFill>
                            <a:srgbClr val="013F53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nmastiramam@teksystems.com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Dallas, TX, USA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7 AM CST to 4 PM CST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Onshore SPOC / Sr. 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79087"/>
                  </a:ext>
                </a:extLst>
              </a:tr>
              <a:tr h="5262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Senior Technical Services Manager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Sandhya Subramanyam (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ssubramanyam@teksystems.com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10 AM – 8 PM 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SPOC / Sr. TSM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11386"/>
                  </a:ext>
                </a:extLst>
              </a:tr>
              <a:tr h="3800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Practice Architect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kern="1200" dirty="0">
                          <a:solidFill>
                            <a:srgbClr val="013F5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Jean-Philippe Leblanc (</a:t>
                      </a:r>
                      <a:r>
                        <a:rPr lang="fr-CA" sz="1200" u="sng" kern="1200" dirty="0">
                          <a:solidFill>
                            <a:srgbClr val="013F53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jleblanc@teksystems.com</a:t>
                      </a:r>
                      <a:r>
                        <a:rPr lang="fr-CA" sz="1200" u="sng" kern="1200" dirty="0">
                          <a:solidFill>
                            <a:srgbClr val="013F5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13F5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Remote / Canada / USA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7 AM CST to 4 PM CST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Onshore Practice Architect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44824"/>
                  </a:ext>
                </a:extLst>
              </a:tr>
              <a:tr h="3800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Business Analyst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Sivakumari Bayapureddy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(sbayapur@teksystems.com)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2.30 PM – 10.30 PM 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Business Analyst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415680"/>
                  </a:ext>
                </a:extLst>
              </a:tr>
              <a:tr h="5110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Lead Developer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Rob Myers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(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bobmyers@teksystems.com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Remote / Canada / USA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7 AM CST to 4 PM CST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Onshore Lead 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151373"/>
                  </a:ext>
                </a:extLst>
              </a:tr>
              <a:tr h="3800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Architect/ Senior Lead Dev 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Saurov Thakur</a:t>
                      </a:r>
                    </a:p>
                    <a:p>
                      <a:pPr marL="0" algn="ctr" defTabSz="609585" rtl="0" eaLnBrk="1" latinLnBrk="0" hangingPunct="1"/>
                      <a:r>
                        <a:rPr lang="en-US" sz="12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(sauthakur@teksystems.com</a:t>
                      </a:r>
                      <a:r>
                        <a:rPr lang="en-US" sz="12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2.30 PM – 10.30 PM IST</a:t>
                      </a:r>
                    </a:p>
                    <a:p>
                      <a:pPr algn="ctr"/>
                      <a:endParaRPr lang="en-US" sz="1200" dirty="0">
                        <a:solidFill>
                          <a:srgbClr val="013F5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Architect / Senior Lead 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03119"/>
                  </a:ext>
                </a:extLst>
              </a:tr>
              <a:tr h="3800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Senior Developer 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1</a:t>
                      </a:r>
                      <a:r>
                        <a:rPr lang="en-US" sz="1200" baseline="30000" dirty="0">
                          <a:solidFill>
                            <a:srgbClr val="013F53"/>
                          </a:solidFill>
                        </a:rPr>
                        <a:t>st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 Dev -  Ooha Rani , 2</a:t>
                      </a:r>
                      <a:r>
                        <a:rPr lang="en-US" sz="1200" baseline="30000" dirty="0">
                          <a:solidFill>
                            <a:srgbClr val="013F53"/>
                          </a:solidFill>
                        </a:rPr>
                        <a:t>nd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 Dev - 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1</a:t>
                      </a:r>
                      <a:r>
                        <a:rPr lang="en-US" sz="1200" baseline="30000" dirty="0">
                          <a:solidFill>
                            <a:srgbClr val="013F53"/>
                          </a:solidFill>
                        </a:rPr>
                        <a:t>st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 Dev – 2/17/2025</a:t>
                      </a:r>
                      <a:br>
                        <a:rPr lang="en-US" sz="1200" dirty="0">
                          <a:solidFill>
                            <a:srgbClr val="013F53"/>
                          </a:solidFill>
                        </a:rPr>
                      </a:b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</a:t>
                      </a:r>
                      <a:r>
                        <a:rPr lang="en-US" sz="1200" baseline="30000" dirty="0">
                          <a:solidFill>
                            <a:srgbClr val="013F53"/>
                          </a:solidFill>
                        </a:rPr>
                        <a:t>nd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 Dev - 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2.30 PM – 10.30 PM IST</a:t>
                      </a:r>
                    </a:p>
                    <a:p>
                      <a:pPr algn="ctr"/>
                      <a:endParaRPr lang="en-US" sz="1200" dirty="0">
                        <a:solidFill>
                          <a:srgbClr val="013F5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Developers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385558"/>
                  </a:ext>
                </a:extLst>
              </a:tr>
              <a:tr h="3800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SDET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K Sireesha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(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ksireesha@teksystems.com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2.30 PM – 10.30 PM IST</a:t>
                      </a:r>
                    </a:p>
                    <a:p>
                      <a:pPr algn="ctr"/>
                      <a:endParaRPr lang="en-US" sz="1200" dirty="0">
                        <a:solidFill>
                          <a:srgbClr val="013F5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SDET (QA)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08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Scrum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Priyadarshan Patnaik (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ppatnaik@teksystems.com</a:t>
                      </a: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2/17/2025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2.30 PM – 10.30 PM IST</a:t>
                      </a:r>
                    </a:p>
                    <a:p>
                      <a:pPr algn="ctr"/>
                      <a:endParaRPr lang="en-US" sz="1200" dirty="0">
                        <a:solidFill>
                          <a:srgbClr val="013F5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13F53"/>
                          </a:solidFill>
                        </a:rPr>
                        <a:t>Offshore Scrum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089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54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71A1-3EC0-A641-053A-E8BBD67A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92A3F-F66B-8122-D09E-75EDA2AACB2B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810365D-9250-8B8A-A689-544F093CB355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MEWS TEAM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C969EA-8A82-423A-DAA0-D191E0B0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241736"/>
              </p:ext>
            </p:extLst>
          </p:nvPr>
        </p:nvGraphicFramePr>
        <p:xfrm>
          <a:off x="322931" y="935250"/>
          <a:ext cx="11546138" cy="3893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494">
                  <a:extLst>
                    <a:ext uri="{9D8B030D-6E8A-4147-A177-3AD203B41FA5}">
                      <a16:colId xmlns:a16="http://schemas.microsoft.com/office/drawing/2014/main" val="3789837828"/>
                    </a:ext>
                  </a:extLst>
                </a:gridCol>
                <a:gridCol w="3297145">
                  <a:extLst>
                    <a:ext uri="{9D8B030D-6E8A-4147-A177-3AD203B41FA5}">
                      <a16:colId xmlns:a16="http://schemas.microsoft.com/office/drawing/2014/main" val="2398423000"/>
                    </a:ext>
                  </a:extLst>
                </a:gridCol>
                <a:gridCol w="2027933">
                  <a:extLst>
                    <a:ext uri="{9D8B030D-6E8A-4147-A177-3AD203B41FA5}">
                      <a16:colId xmlns:a16="http://schemas.microsoft.com/office/drawing/2014/main" val="696595909"/>
                    </a:ext>
                  </a:extLst>
                </a:gridCol>
                <a:gridCol w="2017032">
                  <a:extLst>
                    <a:ext uri="{9D8B030D-6E8A-4147-A177-3AD203B41FA5}">
                      <a16:colId xmlns:a16="http://schemas.microsoft.com/office/drawing/2014/main" val="1562049381"/>
                    </a:ext>
                  </a:extLst>
                </a:gridCol>
                <a:gridCol w="2409534">
                  <a:extLst>
                    <a:ext uri="{9D8B030D-6E8A-4147-A177-3AD203B41FA5}">
                      <a16:colId xmlns:a16="http://schemas.microsoft.com/office/drawing/2014/main" val="2069210443"/>
                    </a:ext>
                  </a:extLst>
                </a:gridCol>
              </a:tblGrid>
              <a:tr h="14568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Location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Work Hours (Monday to Friday)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32201"/>
                  </a:ext>
                </a:extLst>
              </a:tr>
              <a:tr h="584824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79087"/>
                  </a:ext>
                </a:extLst>
              </a:tr>
              <a:tr h="584824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11386"/>
                  </a:ext>
                </a:extLst>
              </a:tr>
              <a:tr h="422373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44824"/>
                  </a:ext>
                </a:extLst>
              </a:tr>
              <a:tr h="422373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415680"/>
                  </a:ext>
                </a:extLst>
              </a:tr>
              <a:tr h="422373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15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47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A11C0-8B2D-32B7-F1C5-038554FE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798D3C-9DBB-2212-DA8D-1983D62FDDDA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00B2008-218D-7FF8-A5A3-4CA68FA84FC1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PROJECT GOVERNANCE COMMUNICATION PLAN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B31C93-DEA6-1FA8-0350-D57FE9DE2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17047"/>
              </p:ext>
            </p:extLst>
          </p:nvPr>
        </p:nvGraphicFramePr>
        <p:xfrm>
          <a:off x="457203" y="917531"/>
          <a:ext cx="11270674" cy="5080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6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5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648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Type of Communication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Audience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Frequency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Medium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Responsibility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35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b="1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Kick-off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Key Stakeholders</a:t>
                      </a:r>
                    </a:p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Owners</a:t>
                      </a:r>
                    </a:p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Team </a:t>
                      </a: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One Time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Teams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Executive Overview of Project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Confirm understanding of project schedule,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scope and objectives. 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TGS : 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Mews: 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8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b="1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Weekly Status Report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Owners</a:t>
                      </a:r>
                    </a:p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Team </a:t>
                      </a:r>
                    </a:p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endParaRPr lang="en-US" sz="1400" dirty="0">
                        <a:solidFill>
                          <a:srgbClr val="013F53"/>
                        </a:solidFill>
                        <a:latin typeface="+mn-lt"/>
                        <a:ea typeface="Times New Roman"/>
                        <a:cs typeface="Arial" pitchFamily="34" charset="0"/>
                      </a:endParaRP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Weekly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Email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55563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Review progress against plan.   </a:t>
                      </a:r>
                    </a:p>
                    <a:p>
                      <a:pPr marL="0" marR="0" indent="55563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Plan work and deliverables.  </a:t>
                      </a:r>
                    </a:p>
                    <a:p>
                      <a:pPr marL="0" marR="0" indent="55563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Resolve </a:t>
                      </a: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issues to keep project on track.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TGS : 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Mews: 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8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b="1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Team Meetings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7475" indent="-117475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Project</a:t>
                      </a: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Team members  (as required)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Daily as Needed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Teams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Address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outstanding issues as they arise</a:t>
                      </a:r>
                      <a:endParaRPr lang="en-US" sz="1400" dirty="0">
                        <a:solidFill>
                          <a:srgbClr val="013F5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TGS : 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Mews: 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08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b="1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Leadership Team Status Meetings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Key Stakeholders</a:t>
                      </a:r>
                    </a:p>
                    <a:p>
                      <a:pPr marL="117475" marR="0" indent="-117475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3657600" algn="l"/>
                        </a:tabLs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Project Owners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Monthly/Quarterly</a:t>
                      </a:r>
                    </a:p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as agreed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Teams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0" algn="l"/>
                        </a:tabLst>
                      </a:pPr>
                      <a:r>
                        <a:rPr lang="en-US" sz="1400" kern="1200" dirty="0">
                          <a:solidFill>
                            <a:srgbClr val="013F53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Review project accomplishments, decisions, pending and potential challenges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TGS : </a:t>
                      </a:r>
                      <a:r>
                        <a:rPr lang="en-US" sz="1400" baseline="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  <a:latin typeface="+mn-lt"/>
                          <a:cs typeface="Arial" pitchFamily="34" charset="0"/>
                        </a:rPr>
                        <a:t>Mews: </a:t>
                      </a:r>
                    </a:p>
                  </a:txBody>
                  <a:tcPr marL="90484" marR="904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40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034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48C8-E40E-30A7-DF2E-E9EF9313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66ED5-173D-1F2F-EFBF-9BA77A88D4BA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B798350-1556-FE03-5D71-FF4A2C8A3F42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SAMPLE PROJECT PERFORMANCE METRICS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D11AAF-3B5B-83E4-5CE8-726B00856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334856"/>
              </p:ext>
            </p:extLst>
          </p:nvPr>
        </p:nvGraphicFramePr>
        <p:xfrm>
          <a:off x="1615712" y="1736792"/>
          <a:ext cx="4347268" cy="1915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1267">
                  <a:extLst>
                    <a:ext uri="{9D8B030D-6E8A-4147-A177-3AD203B41FA5}">
                      <a16:colId xmlns:a16="http://schemas.microsoft.com/office/drawing/2014/main" val="2277374194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904145724"/>
                    </a:ext>
                  </a:extLst>
                </a:gridCol>
              </a:tblGrid>
              <a:tr h="317438"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Item: 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Month work Delivered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225434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 Total Stories 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09076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 Total Other items*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437234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 Total Defects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851824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 Totals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sng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146873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Monthly TEK Average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0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269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F0BD74-FCB9-DE7F-3E5A-79994390B04E}"/>
              </a:ext>
            </a:extLst>
          </p:cNvPr>
          <p:cNvSpPr txBox="1"/>
          <p:nvPr/>
        </p:nvSpPr>
        <p:spPr>
          <a:xfrm>
            <a:off x="1536200" y="1289869"/>
            <a:ext cx="3313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13F53"/>
                </a:solidFill>
              </a:rPr>
              <a:t>Total TEK Work Delivered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89A5C8-22A6-EC6C-779D-A3046D771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1382"/>
              </p:ext>
            </p:extLst>
          </p:nvPr>
        </p:nvGraphicFramePr>
        <p:xfrm>
          <a:off x="1615712" y="4209075"/>
          <a:ext cx="4347268" cy="9627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1267">
                  <a:extLst>
                    <a:ext uri="{9D8B030D-6E8A-4147-A177-3AD203B41FA5}">
                      <a16:colId xmlns:a16="http://schemas.microsoft.com/office/drawing/2014/main" val="2277374194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904145724"/>
                    </a:ext>
                  </a:extLst>
                </a:gridCol>
              </a:tblGrid>
              <a:tr h="31743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Work Item: 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Month work Delivered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225434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 Total Story Points 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09076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Monthly TEK Average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0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269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7BFBEA-815B-30AE-7FE1-30684A225471}"/>
              </a:ext>
            </a:extLst>
          </p:cNvPr>
          <p:cNvSpPr txBox="1"/>
          <p:nvPr/>
        </p:nvSpPr>
        <p:spPr>
          <a:xfrm>
            <a:off x="1383528" y="3789041"/>
            <a:ext cx="2785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13F53"/>
                </a:solidFill>
              </a:rPr>
              <a:t>Total TEK Story Points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FE4253-1BC7-EF0A-6137-D53BED756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86263"/>
              </p:ext>
            </p:extLst>
          </p:nvPr>
        </p:nvGraphicFramePr>
        <p:xfrm>
          <a:off x="6461204" y="1743977"/>
          <a:ext cx="4347268" cy="6348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8343">
                  <a:extLst>
                    <a:ext uri="{9D8B030D-6E8A-4147-A177-3AD203B41FA5}">
                      <a16:colId xmlns:a16="http://schemas.microsoft.com/office/drawing/2014/main" val="2277374194"/>
                    </a:ext>
                  </a:extLst>
                </a:gridCol>
                <a:gridCol w="1778925">
                  <a:extLst>
                    <a:ext uri="{9D8B030D-6E8A-4147-A177-3AD203B41FA5}">
                      <a16:colId xmlns:a16="http://schemas.microsoft.com/office/drawing/2014/main" val="904145724"/>
                    </a:ext>
                  </a:extLst>
                </a:gridCol>
              </a:tblGrid>
              <a:tr h="31743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Work Item: 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Month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225434"/>
                  </a:ext>
                </a:extLst>
              </a:tr>
              <a:tr h="3174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13F5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Monthly Headcount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endParaRPr lang="en-US" sz="1400" b="1" i="0" u="none" strike="noStrike" kern="1200" dirty="0">
                        <a:solidFill>
                          <a:srgbClr val="013F53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090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34A243-2C80-0880-E09A-F49162F923A6}"/>
              </a:ext>
            </a:extLst>
          </p:cNvPr>
          <p:cNvSpPr txBox="1"/>
          <p:nvPr/>
        </p:nvSpPr>
        <p:spPr>
          <a:xfrm>
            <a:off x="6096000" y="1314995"/>
            <a:ext cx="3313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13F53"/>
                </a:solidFill>
              </a:rPr>
              <a:t>Average TEK headcount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117199A9-A1A1-6741-64CF-C8FA0F8EB317}"/>
              </a:ext>
            </a:extLst>
          </p:cNvPr>
          <p:cNvSpPr txBox="1"/>
          <p:nvPr/>
        </p:nvSpPr>
        <p:spPr>
          <a:xfrm>
            <a:off x="6461204" y="2647643"/>
            <a:ext cx="4434463" cy="2524133"/>
          </a:xfrm>
          <a:prstGeom prst="rect">
            <a:avLst/>
          </a:prstGeom>
          <a:solidFill>
            <a:srgbClr val="C7E7F5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Resource Updates: </a:t>
            </a:r>
            <a:r>
              <a:rPr lang="en-US" sz="1200" b="1" dirty="0">
                <a:solidFill>
                  <a:srgbClr val="000000"/>
                </a:solidFill>
              </a:rPr>
              <a:t>None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</a:rPr>
              <a:t>Performance Updates: </a:t>
            </a:r>
            <a:r>
              <a:rPr lang="en-US" sz="1200" b="1" dirty="0">
                <a:solidFill>
                  <a:srgbClr val="000000"/>
                </a:solidFill>
              </a:rPr>
              <a:t>None</a:t>
            </a:r>
            <a:endParaRPr lang="en-US" sz="1200" dirty="0">
              <a:solidFill>
                <a:srgbClr val="000000"/>
              </a:solidFill>
            </a:endParaRPr>
          </a:p>
          <a:p>
            <a:endParaRPr lang="en-US" sz="1200" dirty="0">
              <a:solidFill>
                <a:srgbClr val="FF0000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Risks/Issues Captured</a:t>
            </a:r>
            <a:r>
              <a:rPr lang="en-US" sz="1200" dirty="0">
                <a:solidFill>
                  <a:srgbClr val="000000"/>
                </a:solidFill>
              </a:rPr>
              <a:t>: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</a:rPr>
              <a:t>Initiatives (RAG): </a:t>
            </a:r>
            <a:r>
              <a:rPr lang="en-US" sz="1200" b="1" dirty="0">
                <a:solidFill>
                  <a:srgbClr val="000000"/>
                </a:solidFill>
                <a:highlight>
                  <a:srgbClr val="00FF00"/>
                </a:highlight>
              </a:rPr>
              <a:t>Green</a:t>
            </a:r>
            <a:endParaRPr lang="en-US" sz="1200" dirty="0">
              <a:solidFill>
                <a:srgbClr val="000000"/>
              </a:solidFill>
            </a:endParaRP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</a:rPr>
              <a:t>Resource Output: MoM</a:t>
            </a:r>
          </a:p>
          <a:p>
            <a:r>
              <a:rPr lang="en-US" sz="1200" b="1" dirty="0">
                <a:solidFill>
                  <a:srgbClr val="000000"/>
                </a:solidFill>
              </a:rPr>
              <a:t>225 (</a:t>
            </a:r>
            <a:r>
              <a:rPr lang="en-US" sz="1200" b="1" dirty="0">
                <a:solidFill>
                  <a:srgbClr val="000000"/>
                </a:solidFill>
                <a:cs typeface="Arial"/>
              </a:rPr>
              <a:t>November</a:t>
            </a:r>
            <a:r>
              <a:rPr lang="en-US" sz="1200" b="1" dirty="0">
                <a:solidFill>
                  <a:srgbClr val="000000"/>
                </a:solidFill>
              </a:rPr>
              <a:t>)</a:t>
            </a:r>
          </a:p>
          <a:p>
            <a:r>
              <a:rPr lang="en-US" sz="1200" b="1" dirty="0">
                <a:solidFill>
                  <a:srgbClr val="000000"/>
                </a:solidFill>
              </a:rPr>
              <a:t>143 (December)</a:t>
            </a:r>
          </a:p>
          <a:p>
            <a:endParaRPr lang="en-US" sz="1200" b="1" dirty="0">
              <a:solidFill>
                <a:srgbClr val="339933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Rolling Throughput Percentage:  </a:t>
            </a:r>
            <a:r>
              <a:rPr lang="en-US" sz="1400" b="1" dirty="0">
                <a:solidFill>
                  <a:srgbClr val="0070C0"/>
                </a:solidFill>
                <a:highlight>
                  <a:srgbClr val="FFFF00"/>
                </a:highlight>
                <a:latin typeface="Arial" panose="020B0604020202020204"/>
              </a:rPr>
              <a:t>16.05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+mn-ea"/>
                <a:cs typeface="+mn-cs"/>
              </a:rPr>
              <a:t>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10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BBAD-BA97-A224-B8C1-D3CF2D2C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A6828-BCF6-AB7A-96B4-FF67D21D79DC}"/>
              </a:ext>
            </a:extLst>
          </p:cNvPr>
          <p:cNvSpPr txBox="1"/>
          <p:nvPr/>
        </p:nvSpPr>
        <p:spPr>
          <a:xfrm>
            <a:off x="9889068" y="6280725"/>
            <a:ext cx="18388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09585"/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58DD65F-DA7B-4452-CED1-9968F6EBB935}"/>
              </a:ext>
            </a:extLst>
          </p:cNvPr>
          <p:cNvSpPr txBox="1">
            <a:spLocks/>
          </p:cNvSpPr>
          <p:nvPr/>
        </p:nvSpPr>
        <p:spPr>
          <a:xfrm>
            <a:off x="0" y="337748"/>
            <a:ext cx="12192000" cy="2974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Helvetica Neue"/>
                <a:ea typeface="+mj-ea"/>
                <a:cs typeface="Helvetica Neue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577C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TEKSYSTEMS </a:t>
            </a: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|   </a:t>
            </a:r>
            <a:r>
              <a:rPr kumimoji="0" lang="fr-CA" sz="1333" b="1" i="0" u="none" strike="noStrike" kern="1200" cap="none" spc="400" normalizeH="0" baseline="0" noProof="0" dirty="0">
                <a:ln>
                  <a:noFill/>
                </a:ln>
                <a:solidFill>
                  <a:srgbClr val="0094D2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Avenir Book" charset="0"/>
              </a:rPr>
              <a:t>ENGAGEMENT LOGISTICS</a:t>
            </a:r>
            <a:endParaRPr kumimoji="0" lang="en-CA" sz="1333" b="1" i="0" u="none" strike="noStrike" kern="1200" cap="none" spc="400" normalizeH="0" baseline="0" noProof="0" dirty="0">
              <a:ln>
                <a:noFill/>
              </a:ln>
              <a:solidFill>
                <a:srgbClr val="0094D2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Avenir Book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0CCA97-C40D-D9E9-6EEC-9C4557A7D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324785"/>
              </p:ext>
            </p:extLst>
          </p:nvPr>
        </p:nvGraphicFramePr>
        <p:xfrm>
          <a:off x="1598125" y="1446761"/>
          <a:ext cx="4004469" cy="1771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199">
                  <a:extLst>
                    <a:ext uri="{9D8B030D-6E8A-4147-A177-3AD203B41FA5}">
                      <a16:colId xmlns:a16="http://schemas.microsoft.com/office/drawing/2014/main" val="3789837828"/>
                    </a:ext>
                  </a:extLst>
                </a:gridCol>
                <a:gridCol w="1852270">
                  <a:extLst>
                    <a:ext uri="{9D8B030D-6E8A-4147-A177-3AD203B41FA5}">
                      <a16:colId xmlns:a16="http://schemas.microsoft.com/office/drawing/2014/main" val="2398423000"/>
                    </a:ext>
                  </a:extLst>
                </a:gridCol>
              </a:tblGrid>
              <a:tr h="3978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32201"/>
                  </a:ext>
                </a:extLst>
              </a:tr>
              <a:tr h="39782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Softwares and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79087"/>
                  </a:ext>
                </a:extLst>
              </a:tr>
              <a:tr h="490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Access permissions /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11386"/>
                  </a:ext>
                </a:extLst>
              </a:tr>
              <a:tr h="39782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Hardware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TEK/MEWS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4482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57012B9-1A0F-9448-F694-EFB17DF7C35B}"/>
              </a:ext>
            </a:extLst>
          </p:cNvPr>
          <p:cNvSpPr txBox="1"/>
          <p:nvPr/>
        </p:nvSpPr>
        <p:spPr>
          <a:xfrm>
            <a:off x="2032464" y="934379"/>
            <a:ext cx="311591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13F53"/>
                </a:solidFill>
                <a:latin typeface="Arial" panose="020B0604020202020204"/>
              </a:rPr>
              <a:t>Hardware and Software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3F5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9144C-D2F0-731F-59D6-DAF7C41625C9}"/>
              </a:ext>
            </a:extLst>
          </p:cNvPr>
          <p:cNvSpPr txBox="1"/>
          <p:nvPr/>
        </p:nvSpPr>
        <p:spPr>
          <a:xfrm>
            <a:off x="7389088" y="934379"/>
            <a:ext cx="175398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3F5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Trackers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3F5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16B53B-AD9F-C134-F870-61AE700BF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82547"/>
              </p:ext>
            </p:extLst>
          </p:nvPr>
        </p:nvGraphicFramePr>
        <p:xfrm>
          <a:off x="6056862" y="1446761"/>
          <a:ext cx="4418439" cy="1758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354">
                  <a:extLst>
                    <a:ext uri="{9D8B030D-6E8A-4147-A177-3AD203B41FA5}">
                      <a16:colId xmlns:a16="http://schemas.microsoft.com/office/drawing/2014/main" val="3789837828"/>
                    </a:ext>
                  </a:extLst>
                </a:gridCol>
                <a:gridCol w="2077085">
                  <a:extLst>
                    <a:ext uri="{9D8B030D-6E8A-4147-A177-3AD203B41FA5}">
                      <a16:colId xmlns:a16="http://schemas.microsoft.com/office/drawing/2014/main" val="2398423000"/>
                    </a:ext>
                  </a:extLst>
                </a:gridCol>
              </a:tblGrid>
              <a:tr h="44173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Work Tracker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Cadence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32201"/>
                  </a:ext>
                </a:extLst>
              </a:tr>
              <a:tr h="3253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Weekly Status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Weekly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79087"/>
                  </a:ext>
                </a:extLst>
              </a:tr>
              <a:tr h="3253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Sprint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At the end of every sprint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11386"/>
                  </a:ext>
                </a:extLst>
              </a:tr>
              <a:tr h="3253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Client Business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44824"/>
                  </a:ext>
                </a:extLst>
              </a:tr>
              <a:tr h="3253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PTO tracker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Bi-weekly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16688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6BCDF19-3254-EC5A-1412-EB406B691B05}"/>
              </a:ext>
            </a:extLst>
          </p:cNvPr>
          <p:cNvSpPr txBox="1"/>
          <p:nvPr/>
        </p:nvSpPr>
        <p:spPr>
          <a:xfrm>
            <a:off x="3896595" y="3601542"/>
            <a:ext cx="400446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13F53"/>
                </a:solidFill>
                <a:latin typeface="Arial" panose="020B0604020202020204"/>
              </a:rPr>
              <a:t>Leadership Meeting Cadence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3F5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6181B3C-A111-2C59-D8D9-3B19FE919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950985"/>
              </p:ext>
            </p:extLst>
          </p:nvPr>
        </p:nvGraphicFramePr>
        <p:xfrm>
          <a:off x="1598126" y="4068017"/>
          <a:ext cx="8917473" cy="186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939">
                  <a:extLst>
                    <a:ext uri="{9D8B030D-6E8A-4147-A177-3AD203B41FA5}">
                      <a16:colId xmlns:a16="http://schemas.microsoft.com/office/drawing/2014/main" val="3789837828"/>
                    </a:ext>
                  </a:extLst>
                </a:gridCol>
                <a:gridCol w="2820267">
                  <a:extLst>
                    <a:ext uri="{9D8B030D-6E8A-4147-A177-3AD203B41FA5}">
                      <a16:colId xmlns:a16="http://schemas.microsoft.com/office/drawing/2014/main" val="2398423000"/>
                    </a:ext>
                  </a:extLst>
                </a:gridCol>
                <a:gridCol w="2820267">
                  <a:extLst>
                    <a:ext uri="{9D8B030D-6E8A-4147-A177-3AD203B41FA5}">
                      <a16:colId xmlns:a16="http://schemas.microsoft.com/office/drawing/2014/main" val="2964880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Frequency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3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MEWS Designated point contact and TEK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MEWS technical manager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Nanda Masti &amp; Sandhya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Bi-Weekly (30 minutes)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7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TEK internal leadership 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Nanda Masti and Sandhya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Daily (15 minutes)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1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Team meetings with TEK contacts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Nanda Masti, Sandhya S and TEK Team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13F53"/>
                          </a:solidFill>
                        </a:rPr>
                        <a:t>Weekly (15 minutes)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44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96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26" b="-4149"/>
          <a:stretch/>
        </p:blipFill>
        <p:spPr>
          <a:xfrm>
            <a:off x="2975959" y="2572666"/>
            <a:ext cx="6240080" cy="13891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F6CF24-011E-4B19-BB06-F15A23A34ACF}"/>
              </a:ext>
            </a:extLst>
          </p:cNvPr>
          <p:cNvSpPr txBox="1"/>
          <p:nvPr/>
        </p:nvSpPr>
        <p:spPr>
          <a:xfrm>
            <a:off x="3100549" y="2787261"/>
            <a:ext cx="5990899" cy="641739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noAutofit/>
          </a:bodyPr>
          <a:lstStyle/>
          <a:p>
            <a:pPr marL="0" marR="0" lvl="0" indent="0" algn="ctr" defTabSz="1100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Helvetica Neue" panose="02000503000000020004" pitchFamily="2" charset="0"/>
            </a:endParaRPr>
          </a:p>
          <a:p>
            <a:pPr marL="0" marR="0" lvl="0" indent="0" algn="ctr" defTabSz="1100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Helvetica Neue" panose="02000503000000020004" pitchFamily="2" charset="0"/>
            </a:endParaRPr>
          </a:p>
          <a:p>
            <a:pPr marL="0" marR="0" lvl="0" indent="0" algn="ctr" defTabSz="1100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 Medium" panose="02000300000000000000" pitchFamily="2" charset="-127"/>
                <a:ea typeface="Apple SD Gothic Neo Medium" panose="02000300000000000000" pitchFamily="2" charset="-127"/>
                <a:cs typeface="Helvetica Neue" panose="02000503000000020004" pitchFamily="2" charset="0"/>
              </a:rPr>
              <a:t>THANK YOU</a:t>
            </a:r>
          </a:p>
          <a:p>
            <a:pPr marL="0" marR="0" lvl="0" indent="0" algn="ctr" defTabSz="1100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 Medium" panose="02000300000000000000" pitchFamily="2" charset="-127"/>
              <a:ea typeface="Apple SD Gothic Neo Medium" panose="02000300000000000000" pitchFamily="2" charset="-127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72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EC9D9EB4-1665-9146-B1E6-7E336BF40B76}" vid="{5C857F12-FCE1-3443-975C-1123EC5ED011}"/>
    </a:ext>
  </a:extLst>
</a:theme>
</file>

<file path=ppt/theme/theme3.xml><?xml version="1.0" encoding="utf-8"?>
<a:theme xmlns:a="http://schemas.openxmlformats.org/drawingml/2006/main" name="3_Office Theme">
  <a:themeElements>
    <a:clrScheme name="Custom 5">
      <a:dk1>
        <a:srgbClr val="000075"/>
      </a:dk1>
      <a:lt1>
        <a:srgbClr val="FFFFFF"/>
      </a:lt1>
      <a:dk2>
        <a:srgbClr val="0068FF"/>
      </a:dk2>
      <a:lt2>
        <a:srgbClr val="E6E7E8"/>
      </a:lt2>
      <a:accent1>
        <a:srgbClr val="8FD6BD"/>
      </a:accent1>
      <a:accent2>
        <a:srgbClr val="A3D7F3"/>
      </a:accent2>
      <a:accent3>
        <a:srgbClr val="F0FF00"/>
      </a:accent3>
      <a:accent4>
        <a:srgbClr val="FF594B"/>
      </a:accent4>
      <a:accent5>
        <a:srgbClr val="999999"/>
      </a:accent5>
      <a:accent6>
        <a:srgbClr val="0068FF"/>
      </a:accent6>
      <a:hlink>
        <a:srgbClr val="0068FF"/>
      </a:hlink>
      <a:folHlink>
        <a:srgbClr val="00007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46a902d-08ea-4703-a1dc-bbd6eae13f6d">
      <UserInfo>
        <DisplayName>Ostrander, Eric</DisplayName>
        <AccountId>13</AccountId>
        <AccountType/>
      </UserInfo>
      <UserInfo>
        <DisplayName>Wasson, Ronald</DisplayName>
        <AccountId>14</AccountId>
        <AccountType/>
      </UserInfo>
      <UserInfo>
        <DisplayName>Fishlock, Gareth</DisplayName>
        <AccountId>15</AccountId>
        <AccountType/>
      </UserInfo>
      <UserInfo>
        <DisplayName>Kirsh, Ellis</DisplayName>
        <AccountId>16</AccountId>
        <AccountType/>
      </UserInfo>
      <UserInfo>
        <DisplayName>Michelsen, Christian A.</DisplayName>
        <AccountId>12</AccountId>
        <AccountType/>
      </UserInfo>
      <UserInfo>
        <DisplayName>Werley, Jessica</DisplayName>
        <AccountId>17</AccountId>
        <AccountType/>
      </UserInfo>
      <UserInfo>
        <DisplayName>Rupprecht, Eric</DisplayName>
        <AccountId>21</AccountId>
        <AccountType/>
      </UserInfo>
      <UserInfo>
        <DisplayName>Stine, Tracy A.</DisplayName>
        <AccountId>22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73C12B36B26044A4086F9E91D843E6" ma:contentTypeVersion="6" ma:contentTypeDescription="Create a new document." ma:contentTypeScope="" ma:versionID="a56cdb7fc072f5583466ff675d3bae9a">
  <xsd:schema xmlns:xsd="http://www.w3.org/2001/XMLSchema" xmlns:xs="http://www.w3.org/2001/XMLSchema" xmlns:p="http://schemas.microsoft.com/office/2006/metadata/properties" xmlns:ns2="b104a739-4e9b-419f-96e0-32b52517c90a" xmlns:ns3="e46a902d-08ea-4703-a1dc-bbd6eae13f6d" targetNamespace="http://schemas.microsoft.com/office/2006/metadata/properties" ma:root="true" ma:fieldsID="7b757817c2c562b8c7878c0541eeeeba" ns2:_="" ns3:_="">
    <xsd:import namespace="b104a739-4e9b-419f-96e0-32b52517c90a"/>
    <xsd:import namespace="e46a902d-08ea-4703-a1dc-bbd6eae13f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4a739-4e9b-419f-96e0-32b52517c9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a902d-08ea-4703-a1dc-bbd6eae13f6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2D49A7-DC90-4B75-A360-6702AF31F7E3}">
  <ds:schemaRefs>
    <ds:schemaRef ds:uri="47049211-5bf3-4875-aad1-d74db7cd2015"/>
    <ds:schemaRef ds:uri="d61b2670-2a90-4de4-b79d-8d66efd5d6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46a902d-08ea-4703-a1dc-bbd6eae13f6d"/>
  </ds:schemaRefs>
</ds:datastoreItem>
</file>

<file path=customXml/itemProps2.xml><?xml version="1.0" encoding="utf-8"?>
<ds:datastoreItem xmlns:ds="http://schemas.openxmlformats.org/officeDocument/2006/customXml" ds:itemID="{B45DD65C-ED2B-4F78-B102-4E4AF7A27B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9A57A6-02F1-41F9-9254-FDF9192751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4a739-4e9b-419f-96e0-32b52517c90a"/>
    <ds:schemaRef ds:uri="e46a902d-08ea-4703-a1dc-bbd6eae13f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1158</Words>
  <Application>Microsoft Office PowerPoint</Application>
  <PresentationFormat>Widescreen</PresentationFormat>
  <Paragraphs>299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Apple SD Gothic Neo Medium</vt:lpstr>
      <vt:lpstr>Arial</vt:lpstr>
      <vt:lpstr>Calibri</vt:lpstr>
      <vt:lpstr>Calibri Light</vt:lpstr>
      <vt:lpstr>Courier New</vt:lpstr>
      <vt:lpstr>Helvetica Neue Light</vt:lpstr>
      <vt:lpstr>Helvetica Neue Medium</vt:lpstr>
      <vt:lpstr>Helvetica Neue Thin</vt:lpstr>
      <vt:lpstr>Office Theme</vt:lpstr>
      <vt:lpstr>Theme2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FLEX</dc:title>
  <dc:creator>Branca, Lindsey</dc:creator>
  <cp:lastModifiedBy>Masti, Nanda</cp:lastModifiedBy>
  <cp:revision>42</cp:revision>
  <cp:lastPrinted>2020-11-10T21:53:13Z</cp:lastPrinted>
  <dcterms:created xsi:type="dcterms:W3CDTF">2020-04-07T17:48:37Z</dcterms:created>
  <dcterms:modified xsi:type="dcterms:W3CDTF">2025-02-12T02:25:07Z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0x0101006973C12B36B26044A4086F9E91D843E6</vt:lpwstr>
  </property>
  <property fmtid="{D5CDD505-2E9C-101B-9397-08002B2CF9AE}" pid="3" name="Document Category">
    <vt:lpwstr>1;#Solution Document|95ef22c0-0c53-487f-ba8a-816918bdd67b</vt:lpwstr>
  </property>
  <property fmtid="{D5CDD505-2E9C-101B-9397-08002B2CF9AE}" pid="4" name="_dlc_DocIdItemGuid">
    <vt:lpwstr>17b7da90-9723-4f16-aaca-68ddf93f4620</vt:lpwstr>
  </property>
  <property fmtid="{D5CDD505-2E9C-101B-9397-08002B2CF9AE}" pid="5" name="SolutionDocType">
    <vt:lpwstr>13;#Process Document|ce36be1f-603a-42b2-a401-5caaa5c88093</vt:lpwstr>
  </property>
</Properties>
</file>